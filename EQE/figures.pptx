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Crystalline silicon solar cell — cross-section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011680" y="786384"/>
            <a:ext cx="0" cy="365760"/>
          </a:xfrm>
          <a:prstGeom prst="line">
            <a:avLst/>
          </a:prstGeom>
          <a:noFill/>
          <a:ln w="28575">
            <a:solidFill>
              <a:srgbClr val="E8A33D"/>
            </a:solidFill>
            <a:prstDash val="solid"/>
            <a:tailEnd type="triangle"/>
          </a:ln>
        </p:spPr>
      </p:sp>
      <p:sp>
        <p:nvSpPr>
          <p:cNvPr id="4" name="Shape 2"/>
          <p:cNvSpPr/>
          <p:nvPr/>
        </p:nvSpPr>
        <p:spPr>
          <a:xfrm>
            <a:off x="3200400" y="786384"/>
            <a:ext cx="0" cy="365760"/>
          </a:xfrm>
          <a:prstGeom prst="line">
            <a:avLst/>
          </a:prstGeom>
          <a:noFill/>
          <a:ln w="28575">
            <a:solidFill>
              <a:srgbClr val="E8A33D"/>
            </a:solidFill>
            <a:prstDash val="solid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4754880" y="786384"/>
            <a:ext cx="0" cy="365760"/>
          </a:xfrm>
          <a:prstGeom prst="line">
            <a:avLst/>
          </a:prstGeom>
          <a:noFill/>
          <a:ln w="28575">
            <a:solidFill>
              <a:srgbClr val="E8A33D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6035040" y="786384"/>
            <a:ext cx="0" cy="365760"/>
          </a:xfrm>
          <a:prstGeom prst="line">
            <a:avLst/>
          </a:prstGeom>
          <a:noFill/>
          <a:ln w="28575">
            <a:solidFill>
              <a:srgbClr val="E8A33D"/>
            </a:solidFill>
            <a:prstDash val="solid"/>
            <a:tailEnd type="triangle"/>
          </a:ln>
        </p:spPr>
      </p:sp>
      <p:sp>
        <p:nvSpPr>
          <p:cNvPr id="7" name="Text 5"/>
          <p:cNvSpPr/>
          <p:nvPr/>
        </p:nvSpPr>
        <p:spPr>
          <a:xfrm>
            <a:off x="411480" y="82296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incident light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1828800" y="1207008"/>
            <a:ext cx="4572000" cy="146304"/>
          </a:xfrm>
          <a:prstGeom prst="rect">
            <a:avLst/>
          </a:prstGeom>
          <a:solidFill>
            <a:srgbClr val="5B9BD5"/>
          </a:solidFill>
          <a:ln w="12700">
            <a:solidFill>
              <a:srgbClr val="3A4A5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828800" y="1353312"/>
            <a:ext cx="4572000" cy="274320"/>
          </a:xfrm>
          <a:prstGeom prst="rect">
            <a:avLst/>
          </a:prstGeom>
          <a:solidFill>
            <a:srgbClr val="A8C4E0"/>
          </a:solidFill>
          <a:ln w="12700">
            <a:solidFill>
              <a:srgbClr val="3A4A5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828800" y="1627632"/>
            <a:ext cx="4572000" cy="1783080"/>
          </a:xfrm>
          <a:prstGeom prst="rect">
            <a:avLst/>
          </a:prstGeom>
          <a:solidFill>
            <a:srgbClr val="DCE9F7"/>
          </a:solidFill>
          <a:ln w="12700">
            <a:solidFill>
              <a:srgbClr val="3A4A5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828800" y="3410712"/>
            <a:ext cx="4572000" cy="201168"/>
          </a:xfrm>
          <a:prstGeom prst="rect">
            <a:avLst/>
          </a:prstGeom>
          <a:solidFill>
            <a:srgbClr val="D3BFA6"/>
          </a:solidFill>
          <a:ln w="12700">
            <a:solidFill>
              <a:srgbClr val="3A4A5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828800" y="3611880"/>
            <a:ext cx="4572000" cy="292608"/>
          </a:xfrm>
          <a:prstGeom prst="rect">
            <a:avLst/>
          </a:prstGeom>
          <a:solidFill>
            <a:srgbClr val="595959"/>
          </a:solidFill>
          <a:ln w="12700">
            <a:solidFill>
              <a:srgbClr val="3A4A5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240280" y="969264"/>
            <a:ext cx="502920" cy="237744"/>
          </a:xfrm>
          <a:prstGeom prst="rect">
            <a:avLst/>
          </a:prstGeom>
          <a:solidFill>
            <a:srgbClr val="595959"/>
          </a:solidFill>
          <a:ln w="12700">
            <a:solidFill>
              <a:srgbClr val="3A4A5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749040" y="969264"/>
            <a:ext cx="502920" cy="237744"/>
          </a:xfrm>
          <a:prstGeom prst="rect">
            <a:avLst/>
          </a:prstGeom>
          <a:solidFill>
            <a:srgbClr val="595959"/>
          </a:solidFill>
          <a:ln w="12700">
            <a:solidFill>
              <a:srgbClr val="3A4A5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257800" y="969264"/>
            <a:ext cx="502920" cy="237744"/>
          </a:xfrm>
          <a:prstGeom prst="rect">
            <a:avLst/>
          </a:prstGeom>
          <a:solidFill>
            <a:srgbClr val="595959"/>
          </a:solidFill>
          <a:ln w="12700">
            <a:solidFill>
              <a:srgbClr val="3A4A5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65392" y="106984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 contact fingers (Ag)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565392" y="126187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anti-reflection coating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565392" y="144475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n⁺ emitter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565392" y="239115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p-type base  (absorber)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565392" y="34107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p⁺ back surface field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565392" y="365760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rear metallisation (Al)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1444752" y="1353312"/>
            <a:ext cx="0" cy="205740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  <a:tailEnd type="triangle"/>
          </a:ln>
        </p:spPr>
      </p:sp>
      <p:sp>
        <p:nvSpPr>
          <p:cNvPr id="23" name="Text 21"/>
          <p:cNvSpPr/>
          <p:nvPr/>
        </p:nvSpPr>
        <p:spPr>
          <a:xfrm>
            <a:off x="1207008" y="2084832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i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207008" y="1298448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645920" y="1627632"/>
            <a:ext cx="91440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645920" y="3410712"/>
            <a:ext cx="91440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691640" y="1627632"/>
            <a:ext cx="0" cy="178308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444752" y="2409444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365760" y="4389120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Wavelength selects depth: blue light is absorbed within the emitter and coating, red light reaches the rear.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the incident photons go — EQE vs IQE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914400" y="1783080"/>
            <a:ext cx="5669280" cy="0"/>
          </a:xfrm>
          <a:prstGeom prst="line">
            <a:avLst/>
          </a:prstGeom>
          <a:noFill/>
          <a:ln w="19050">
            <a:solidFill>
              <a:srgbClr val="3A4A5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675120" y="163677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 surface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1920240" y="960120"/>
            <a:ext cx="502920" cy="731520"/>
          </a:xfrm>
          <a:prstGeom prst="line">
            <a:avLst/>
          </a:prstGeom>
          <a:noFill/>
          <a:ln w="38100">
            <a:solidFill>
              <a:srgbClr val="E8A33D"/>
            </a:solidFill>
            <a:prstDash val="solid"/>
            <a:tailEnd type="triangle"/>
          </a:ln>
        </p:spPr>
      </p:sp>
      <p:sp>
        <p:nvSpPr>
          <p:cNvPr id="6" name="Text 4"/>
          <p:cNvSpPr/>
          <p:nvPr/>
        </p:nvSpPr>
        <p:spPr>
          <a:xfrm>
            <a:off x="384048" y="1042416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E8A3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incident photons  Φ₀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2450592" y="1719072"/>
            <a:ext cx="566928" cy="-713232"/>
          </a:xfrm>
          <a:prstGeom prst="line">
            <a:avLst/>
          </a:prstGeom>
          <a:noFill/>
          <a:ln w="38100">
            <a:solidFill>
              <a:srgbClr val="D95F02"/>
            </a:solidFill>
            <a:prstDash val="solid"/>
            <a:tailEnd type="triangle"/>
          </a:ln>
        </p:spPr>
      </p:sp>
      <p:sp>
        <p:nvSpPr>
          <p:cNvPr id="8" name="Text 6"/>
          <p:cNvSpPr/>
          <p:nvPr/>
        </p:nvSpPr>
        <p:spPr>
          <a:xfrm>
            <a:off x="3063240" y="93268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D95F0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reflected  R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914400" y="1783080"/>
            <a:ext cx="5669280" cy="310896"/>
          </a:xfrm>
          <a:prstGeom prst="rect">
            <a:avLst/>
          </a:prstGeom>
          <a:solidFill>
            <a:srgbClr val="E5E1F2"/>
          </a:solidFill>
          <a:ln w="12700">
            <a:solidFill>
              <a:srgbClr val="7570B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24128" y="181051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7570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coating + emitter:  parasitic absorption  Aₑₓₜ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148840" y="2112264"/>
            <a:ext cx="0" cy="384048"/>
          </a:xfrm>
          <a:prstGeom prst="line">
            <a:avLst/>
          </a:prstGeom>
          <a:noFill/>
          <a:ln w="38100">
            <a:solidFill>
              <a:srgbClr val="1B9E77"/>
            </a:solidFill>
            <a:prstDash val="solid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2331720" y="214884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9E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Tₑₓₜ = 1 − R − Aₑₓₜ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914400" y="2560320"/>
            <a:ext cx="5669280" cy="960120"/>
          </a:xfrm>
          <a:prstGeom prst="rect">
            <a:avLst/>
          </a:prstGeom>
          <a:solidFill>
            <a:srgbClr val="DCE9F7"/>
          </a:solidFill>
          <a:ln w="12700">
            <a:solidFill>
              <a:srgbClr val="3A4A5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51560" y="2651760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absorber:  photons absorbed → electron-hole pairs generated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194560" y="3291840"/>
            <a:ext cx="-502920" cy="384048"/>
          </a:xfrm>
          <a:prstGeom prst="line">
            <a:avLst/>
          </a:prstGeom>
          <a:noFill/>
          <a:ln w="31750">
            <a:solidFill>
              <a:srgbClr val="1B9E77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5120640" y="3291840"/>
            <a:ext cx="502920" cy="384048"/>
          </a:xfrm>
          <a:prstGeom prst="line">
            <a:avLst/>
          </a:prstGeom>
          <a:noFill/>
          <a:ln w="31750">
            <a:solidFill>
              <a:srgbClr val="C0392B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960120" y="3703320"/>
            <a:ext cx="1691640" cy="566928"/>
          </a:xfrm>
          <a:prstGeom prst="rect">
            <a:avLst/>
          </a:prstGeom>
          <a:solidFill>
            <a:srgbClr val="DFF3EC"/>
          </a:solidFill>
          <a:ln w="12700">
            <a:solidFill>
              <a:srgbClr val="3A4A5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60120" y="3703320"/>
            <a:ext cx="1691640" cy="566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F51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collected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0F51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photocurrent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120640" y="3703320"/>
            <a:ext cx="1417320" cy="566928"/>
          </a:xfrm>
          <a:prstGeom prst="rect">
            <a:avLst/>
          </a:prstGeom>
          <a:solidFill>
            <a:srgbClr val="FBE4E2"/>
          </a:solidFill>
          <a:ln w="12700">
            <a:solidFill>
              <a:srgbClr val="3A4A5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120640" y="3703320"/>
            <a:ext cx="1417320" cy="566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A2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recombined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8A2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lost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720840" y="2560320"/>
            <a:ext cx="2057400" cy="1709928"/>
          </a:xfrm>
          <a:prstGeom prst="rect">
            <a:avLst/>
          </a:prstGeom>
          <a:solidFill>
            <a:srgbClr val="F4F6F8"/>
          </a:solidFill>
          <a:ln w="12700">
            <a:solidFill>
              <a:srgbClr val="C7CDD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39712" y="2688336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EQE  =  collected / incident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839712" y="29992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IQE  =  collected / entered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839712" y="3291840"/>
            <a:ext cx="1810512" cy="0"/>
          </a:xfrm>
          <a:prstGeom prst="line">
            <a:avLst/>
          </a:prstGeom>
          <a:noFill/>
          <a:ln w="12700">
            <a:solidFill>
              <a:srgbClr val="C7CDD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39712" y="3401568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IQE = EQE / (1 − R)      (10)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839712" y="3712464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EQE = Tₑₓₜ × IQE        (11)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839712" y="400507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optics × electronics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365760" y="4553712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EQE counts every incident photon, so it is charged for reflection. IQE divides that out and reports only how well the cell converts the light it actually receives.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Generation depth and carrier collection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1143000" y="1234440"/>
            <a:ext cx="6400800" cy="1691640"/>
          </a:xfrm>
          <a:prstGeom prst="rect">
            <a:avLst/>
          </a:prstGeom>
          <a:solidFill>
            <a:srgbClr val="DCE9F7"/>
          </a:solidFill>
          <a:ln w="12700">
            <a:solidFill>
              <a:srgbClr val="3A4A5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3000" y="1234440"/>
            <a:ext cx="146304" cy="1691640"/>
          </a:xfrm>
          <a:prstGeom prst="rect">
            <a:avLst/>
          </a:prstGeom>
          <a:solidFill>
            <a:srgbClr val="A8C4E0"/>
          </a:solidFill>
          <a:ln w="12700">
            <a:solidFill>
              <a:srgbClr val="3A4A5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97496" y="1234440"/>
            <a:ext cx="146304" cy="1691640"/>
          </a:xfrm>
          <a:prstGeom prst="rect">
            <a:avLst/>
          </a:prstGeom>
          <a:solidFill>
            <a:srgbClr val="595959"/>
          </a:solidFill>
          <a:ln w="12700">
            <a:solidFill>
              <a:srgbClr val="3A4A5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" y="941832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 / junction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309360" y="94183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rear surface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289304" y="1618488"/>
            <a:ext cx="610819" cy="0"/>
          </a:xfrm>
          <a:prstGeom prst="line">
            <a:avLst/>
          </a:prstGeom>
          <a:noFill/>
          <a:ln w="31750">
            <a:solidFill>
              <a:srgbClr val="3B5BA5"/>
            </a:solidFill>
            <a:prstDash val="solid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1362456" y="1289304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3B5B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400 nm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1289304" y="2075688"/>
            <a:ext cx="2748686" cy="0"/>
          </a:xfrm>
          <a:prstGeom prst="line">
            <a:avLst/>
          </a:prstGeom>
          <a:noFill/>
          <a:ln w="31750">
            <a:solidFill>
              <a:srgbClr val="2E7D32"/>
            </a:solidFill>
            <a:prstDash val="solid"/>
            <a:tailEnd type="triangle"/>
          </a:ln>
        </p:spPr>
      </p:sp>
      <p:sp>
        <p:nvSpPr>
          <p:cNvPr id="11" name="Text 9"/>
          <p:cNvSpPr/>
          <p:nvPr/>
        </p:nvSpPr>
        <p:spPr>
          <a:xfrm>
            <a:off x="1362456" y="1746504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700 nm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1289304" y="2532888"/>
            <a:ext cx="5680619" cy="0"/>
          </a:xfrm>
          <a:prstGeom prst="line">
            <a:avLst/>
          </a:prstGeom>
          <a:noFill/>
          <a:ln w="31750">
            <a:solidFill>
              <a:srgbClr val="C0392B"/>
            </a:solidFill>
            <a:prstDash val="solid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1362456" y="2203704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1000 nm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1143000" y="3072384"/>
            <a:ext cx="6400800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3886200" y="312724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depth  z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106424" y="3127248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342632" y="3127248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1143000" y="3584448"/>
            <a:ext cx="6400800" cy="713232"/>
          </a:xfrm>
          <a:prstGeom prst="rtTriangle">
            <a:avLst/>
          </a:prstGeom>
          <a:solidFill>
            <a:srgbClr val="DFF3EC"/>
          </a:solidFill>
          <a:ln w="12700">
            <a:solidFill>
              <a:srgbClr val="1B9E7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252728" y="331012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51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collection efficiency  η</a:t>
            </a:r>
            <a:pPr indent="0" marL="0">
              <a:buNone/>
            </a:pPr>
            <a:r>
              <a:rPr lang="en-US" sz="1100" b="1" baseline="-40000" dirty="0">
                <a:solidFill>
                  <a:srgbClr val="0F51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252728" y="3968496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F51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858000" y="396849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F51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65760" y="4617720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Blue light generates carriers where collection is efficient but front losses are largest; red light generates them deep, where the diffusion length and rear surface decide the outcome.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Al-BSF vs PERC — the rear side sets the near-IR response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234440"/>
            <a:ext cx="3383280" cy="128016"/>
          </a:xfrm>
          <a:prstGeom prst="rect">
            <a:avLst/>
          </a:prstGeom>
          <a:solidFill>
            <a:srgbClr val="5B9BD5"/>
          </a:solidFill>
          <a:ln w="12700">
            <a:solidFill>
              <a:srgbClr val="3A4A5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2920" y="1362456"/>
            <a:ext cx="3383280" cy="219456"/>
          </a:xfrm>
          <a:prstGeom prst="rect">
            <a:avLst/>
          </a:prstGeom>
          <a:solidFill>
            <a:srgbClr val="A8C4E0"/>
          </a:solidFill>
          <a:ln w="12700">
            <a:solidFill>
              <a:srgbClr val="3A4A5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581912"/>
            <a:ext cx="3383280" cy="1234440"/>
          </a:xfrm>
          <a:prstGeom prst="rect">
            <a:avLst/>
          </a:prstGeom>
          <a:solidFill>
            <a:srgbClr val="DCE9F7"/>
          </a:solidFill>
          <a:ln w="12700">
            <a:solidFill>
              <a:srgbClr val="3A4A5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2816352"/>
            <a:ext cx="3383280" cy="201168"/>
          </a:xfrm>
          <a:prstGeom prst="rect">
            <a:avLst/>
          </a:prstGeom>
          <a:solidFill>
            <a:srgbClr val="D3BFA6"/>
          </a:solidFill>
          <a:ln w="12700">
            <a:solidFill>
              <a:srgbClr val="3A4A5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941064" y="2798064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p⁺ Al-BSF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02920" y="3017520"/>
            <a:ext cx="3383280" cy="256032"/>
          </a:xfrm>
          <a:prstGeom prst="rect">
            <a:avLst/>
          </a:prstGeom>
          <a:solidFill>
            <a:srgbClr val="595959"/>
          </a:solidFill>
          <a:ln w="12700">
            <a:solidFill>
              <a:srgbClr val="3A4A5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892040" y="1234440"/>
            <a:ext cx="3383280" cy="128016"/>
          </a:xfrm>
          <a:prstGeom prst="rect">
            <a:avLst/>
          </a:prstGeom>
          <a:solidFill>
            <a:srgbClr val="5B9BD5"/>
          </a:solidFill>
          <a:ln w="12700">
            <a:solidFill>
              <a:srgbClr val="3A4A5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892040" y="1362456"/>
            <a:ext cx="3383280" cy="219456"/>
          </a:xfrm>
          <a:prstGeom prst="rect">
            <a:avLst/>
          </a:prstGeom>
          <a:solidFill>
            <a:srgbClr val="A8C4E0"/>
          </a:solidFill>
          <a:ln w="12700">
            <a:solidFill>
              <a:srgbClr val="3A4A5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892040" y="1581912"/>
            <a:ext cx="3383280" cy="1234440"/>
          </a:xfrm>
          <a:prstGeom prst="rect">
            <a:avLst/>
          </a:prstGeom>
          <a:solidFill>
            <a:srgbClr val="DCE9F7"/>
          </a:solidFill>
          <a:ln w="12700">
            <a:solidFill>
              <a:srgbClr val="3A4A5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892040" y="2816352"/>
            <a:ext cx="3383280" cy="201168"/>
          </a:xfrm>
          <a:prstGeom prst="rect">
            <a:avLst/>
          </a:prstGeom>
          <a:solidFill>
            <a:srgbClr val="F2C14E"/>
          </a:solidFill>
          <a:ln w="12700">
            <a:solidFill>
              <a:srgbClr val="3A4A5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577840" y="2816352"/>
            <a:ext cx="256032" cy="201168"/>
          </a:xfrm>
          <a:prstGeom prst="rect">
            <a:avLst/>
          </a:prstGeom>
          <a:solidFill>
            <a:srgbClr val="595959"/>
          </a:solidFill>
          <a:ln w="9525">
            <a:solidFill>
              <a:srgbClr val="3A4A5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83680" y="2816352"/>
            <a:ext cx="256032" cy="201168"/>
          </a:xfrm>
          <a:prstGeom prst="rect">
            <a:avLst/>
          </a:prstGeom>
          <a:solidFill>
            <a:srgbClr val="595959"/>
          </a:solidFill>
          <a:ln w="9525">
            <a:solidFill>
              <a:srgbClr val="3A4A5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589520" y="2816352"/>
            <a:ext cx="256032" cy="201168"/>
          </a:xfrm>
          <a:prstGeom prst="rect">
            <a:avLst/>
          </a:prstGeom>
          <a:solidFill>
            <a:srgbClr val="595959"/>
          </a:solidFill>
          <a:ln w="9525">
            <a:solidFill>
              <a:srgbClr val="3A4A5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21040" y="2724912"/>
            <a:ext cx="804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dielectric +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contacts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892040" y="3017520"/>
            <a:ext cx="3383280" cy="256032"/>
          </a:xfrm>
          <a:prstGeom prst="rect">
            <a:avLst/>
          </a:prstGeom>
          <a:solidFill>
            <a:srgbClr val="595959"/>
          </a:solidFill>
          <a:ln w="12700">
            <a:solidFill>
              <a:srgbClr val="3A4A5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2920" y="841248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Al-BSF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892040" y="841248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PERC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822960" y="1691640"/>
            <a:ext cx="2331720" cy="1097280"/>
          </a:xfrm>
          <a:prstGeom prst="line">
            <a:avLst/>
          </a:prstGeom>
          <a:noFill/>
          <a:ln w="28575">
            <a:solidFill>
              <a:srgbClr val="C0392B"/>
            </a:solidFill>
            <a:prstDash val="solid"/>
            <a:tailEnd type="triangle"/>
          </a:ln>
        </p:spPr>
      </p:sp>
      <p:sp>
        <p:nvSpPr>
          <p:cNvPr id="21" name="Text 19"/>
          <p:cNvSpPr/>
          <p:nvPr/>
        </p:nvSpPr>
        <p:spPr>
          <a:xfrm>
            <a:off x="1554480" y="25420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lost at rear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5212080" y="1691640"/>
            <a:ext cx="1600200" cy="1097280"/>
          </a:xfrm>
          <a:prstGeom prst="line">
            <a:avLst/>
          </a:prstGeom>
          <a:noFill/>
          <a:ln w="28575">
            <a:solidFill>
              <a:srgbClr val="1B9E77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 flipV="1">
            <a:off x="6812280" y="1783080"/>
            <a:ext cx="1143000" cy="1005840"/>
          </a:xfrm>
          <a:prstGeom prst="line">
            <a:avLst/>
          </a:prstGeom>
          <a:noFill/>
          <a:ln w="28575">
            <a:solidFill>
              <a:srgbClr val="1B9E77"/>
            </a:solidFill>
            <a:prstDash val="solid"/>
            <a:tailEnd type="triangle"/>
          </a:ln>
        </p:spPr>
      </p:sp>
      <p:sp>
        <p:nvSpPr>
          <p:cNvPr id="24" name="Text 22"/>
          <p:cNvSpPr/>
          <p:nvPr/>
        </p:nvSpPr>
        <p:spPr>
          <a:xfrm>
            <a:off x="5760720" y="251460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B9E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reflected back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502920" y="3703320"/>
            <a:ext cx="3383280" cy="566928"/>
          </a:xfrm>
          <a:prstGeom prst="rect">
            <a:avLst/>
          </a:prstGeom>
          <a:solidFill>
            <a:srgbClr val="FBE4E2"/>
          </a:solidFill>
          <a:ln w="12700">
            <a:solidFill>
              <a:srgbClr val="3A4A5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02920" y="3703320"/>
            <a:ext cx="3383280" cy="566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A2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 rear recombination (large S)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8A2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 rear reflection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892040" y="3703320"/>
            <a:ext cx="3383280" cy="566928"/>
          </a:xfrm>
          <a:prstGeom prst="rect">
            <a:avLst/>
          </a:prstGeom>
          <a:solidFill>
            <a:srgbClr val="DFF3EC"/>
          </a:solidFill>
          <a:ln w="12700">
            <a:solidFill>
              <a:srgbClr val="3A4A5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892040" y="3703320"/>
            <a:ext cx="3383280" cy="566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51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passivated rear (small S)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51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rear reflector returns near-IR light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365760" y="4526280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cells share the same front optics, so their EQE and IQE curves differ only above ~900 nm — the signature of a rear-side difference.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Differential spectral responsivity (DSR) measurement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11480" y="868680"/>
            <a:ext cx="1188720" cy="502920"/>
          </a:xfrm>
          <a:prstGeom prst="rect">
            <a:avLst/>
          </a:prstGeom>
          <a:solidFill>
            <a:srgbClr val="FDF2DC"/>
          </a:solidFill>
          <a:ln w="12700">
            <a:solidFill>
              <a:srgbClr val="3A4A5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868680"/>
            <a:ext cx="11887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 / halogen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lamp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1627632" y="1120140"/>
            <a:ext cx="228600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1883664" y="868680"/>
            <a:ext cx="1188720" cy="502920"/>
          </a:xfrm>
          <a:prstGeom prst="rect">
            <a:avLst/>
          </a:prstGeom>
          <a:solidFill>
            <a:srgbClr val="FDF2DC"/>
          </a:solidFill>
          <a:ln w="12700">
            <a:solidFill>
              <a:srgbClr val="3A4A5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883664" y="868680"/>
            <a:ext cx="11887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mono-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chromator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099816" y="1120140"/>
            <a:ext cx="228600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3355848" y="868680"/>
            <a:ext cx="1188720" cy="502920"/>
          </a:xfrm>
          <a:prstGeom prst="rect">
            <a:avLst/>
          </a:prstGeom>
          <a:solidFill>
            <a:srgbClr val="FDF2DC"/>
          </a:solidFill>
          <a:ln w="12700">
            <a:solidFill>
              <a:srgbClr val="3A4A5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55848" y="868680"/>
            <a:ext cx="11887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chopper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572000" y="1120140"/>
            <a:ext cx="228600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4828032" y="868680"/>
            <a:ext cx="1188720" cy="502920"/>
          </a:xfrm>
          <a:prstGeom prst="rect">
            <a:avLst/>
          </a:prstGeom>
          <a:solidFill>
            <a:srgbClr val="FDF2DC"/>
          </a:solidFill>
          <a:ln w="12700">
            <a:solidFill>
              <a:srgbClr val="3A4A5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28032" y="868680"/>
            <a:ext cx="11887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beam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splitter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044184" y="1120140"/>
            <a:ext cx="228600" cy="0"/>
          </a:xfrm>
          <a:prstGeom prst="line">
            <a:avLst/>
          </a:prstGeom>
          <a:noFill/>
          <a:ln w="22225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6300216" y="868680"/>
            <a:ext cx="1417320" cy="502920"/>
          </a:xfrm>
          <a:prstGeom prst="rect">
            <a:avLst/>
          </a:prstGeom>
          <a:solidFill>
            <a:srgbClr val="F4F6F8"/>
          </a:solidFill>
          <a:ln w="12700">
            <a:solidFill>
              <a:srgbClr val="3A4A5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00216" y="868680"/>
            <a:ext cx="14173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photodiode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422392" y="1371600"/>
            <a:ext cx="0" cy="960120"/>
          </a:xfrm>
          <a:prstGeom prst="line">
            <a:avLst/>
          </a:prstGeom>
          <a:noFill/>
          <a:ln w="31750">
            <a:solidFill>
              <a:srgbClr val="E8A33D"/>
            </a:solidFill>
            <a:prstDash val="solid"/>
            <a:tailEnd type="triangle"/>
          </a:ln>
        </p:spPr>
      </p:sp>
      <p:sp>
        <p:nvSpPr>
          <p:cNvPr id="18" name="Text 16"/>
          <p:cNvSpPr/>
          <p:nvPr/>
        </p:nvSpPr>
        <p:spPr>
          <a:xfrm>
            <a:off x="5532120" y="1517904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E8A3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monochromatic,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E8A3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chopped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48640" y="1783080"/>
            <a:ext cx="1325880" cy="502920"/>
          </a:xfrm>
          <a:prstGeom prst="rect">
            <a:avLst/>
          </a:prstGeom>
          <a:solidFill>
            <a:srgbClr val="FFF6D9"/>
          </a:solidFill>
          <a:ln w="12700">
            <a:solidFill>
              <a:srgbClr val="3A4A5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8640" y="1783080"/>
            <a:ext cx="132588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bias lamp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(white light)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1901952" y="2212848"/>
            <a:ext cx="1417320" cy="256032"/>
          </a:xfrm>
          <a:prstGeom prst="line">
            <a:avLst/>
          </a:prstGeom>
          <a:noFill/>
          <a:ln w="28575">
            <a:solidFill>
              <a:srgbClr val="E8A33D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3017520" y="2395728"/>
            <a:ext cx="3017520" cy="256032"/>
          </a:xfrm>
          <a:prstGeom prst="rect">
            <a:avLst/>
          </a:prstGeom>
          <a:solidFill>
            <a:srgbClr val="DCE9F7"/>
          </a:solidFill>
          <a:ln w="12700">
            <a:solidFill>
              <a:srgbClr val="3A4A5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017520" y="2651760"/>
            <a:ext cx="3017520" cy="164592"/>
          </a:xfrm>
          <a:prstGeom prst="rect">
            <a:avLst/>
          </a:prstGeom>
          <a:solidFill>
            <a:srgbClr val="595959"/>
          </a:solidFill>
          <a:ln w="12700">
            <a:solidFill>
              <a:srgbClr val="3A4A5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017520" y="2871216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solar cell on temperature-controlled chuck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062472" y="2523744"/>
            <a:ext cx="365760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6446520" y="2240280"/>
            <a:ext cx="1463040" cy="502920"/>
          </a:xfrm>
          <a:prstGeom prst="rect">
            <a:avLst/>
          </a:prstGeom>
          <a:solidFill>
            <a:srgbClr val="E9EEF5"/>
          </a:solidFill>
          <a:ln w="12700">
            <a:solidFill>
              <a:srgbClr val="3A4A5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46520" y="2240280"/>
            <a:ext cx="146304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trans-impedance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amplifier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7178040" y="2743200"/>
            <a:ext cx="0" cy="30175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6446520" y="3063240"/>
            <a:ext cx="1463040" cy="438912"/>
          </a:xfrm>
          <a:prstGeom prst="rect">
            <a:avLst/>
          </a:prstGeom>
          <a:solidFill>
            <a:srgbClr val="E9EEF5"/>
          </a:solidFill>
          <a:ln w="12700">
            <a:solidFill>
              <a:srgbClr val="3A4A5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46520" y="3063240"/>
            <a:ext cx="146304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lock-in amplifier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870448" y="3282696"/>
            <a:ext cx="548640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  <a:headEnd type="triangle"/>
          </a:ln>
        </p:spPr>
      </p:sp>
      <p:sp>
        <p:nvSpPr>
          <p:cNvPr id="32" name="Text 30"/>
          <p:cNvSpPr/>
          <p:nvPr/>
        </p:nvSpPr>
        <p:spPr>
          <a:xfrm>
            <a:off x="4343400" y="315468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Δj</a:t>
            </a:r>
            <a:pPr algn="r" indent="0" marL="0">
              <a:buNone/>
            </a:pPr>
            <a:r>
              <a:rPr lang="en-US" sz="1050" b="1" baseline="-40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</a:t>
            </a:r>
            <a:pPr algn="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(AC signal)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411480" y="3611880"/>
            <a:ext cx="3931920" cy="411480"/>
          </a:xfrm>
          <a:prstGeom prst="rect">
            <a:avLst/>
          </a:prstGeom>
          <a:solidFill>
            <a:srgbClr val="F4F6F8"/>
          </a:solidFill>
          <a:ln w="12700">
            <a:solidFill>
              <a:srgbClr val="3A4A5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11480" y="3611880"/>
            <a:ext cx="3931920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reference cell of known SR  →  sets the absolute scale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11480" y="4187952"/>
            <a:ext cx="3931920" cy="502920"/>
          </a:xfrm>
          <a:prstGeom prst="rect">
            <a:avLst/>
          </a:prstGeom>
          <a:solidFill>
            <a:srgbClr val="EAF3EF"/>
          </a:solidFill>
          <a:ln w="12700">
            <a:solidFill>
              <a:srgbClr val="1B9E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48640" y="4187952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51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s̃ (λ, E</a:t>
            </a:r>
            <a:pPr indent="0" marL="0">
              <a:buNone/>
            </a:pPr>
            <a:r>
              <a:rPr lang="en-US" sz="1250" b="1" baseline="-40000" dirty="0">
                <a:solidFill>
                  <a:srgbClr val="0F51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bias</a:t>
            </a:r>
            <a:pPr indent="0" marL="0">
              <a:buNone/>
            </a:pPr>
            <a:r>
              <a:rPr lang="en-US" sz="1250" b="1" dirty="0">
                <a:solidFill>
                  <a:srgbClr val="0F51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 =  Δj</a:t>
            </a:r>
            <a:pPr indent="0" marL="0">
              <a:buNone/>
            </a:pPr>
            <a:r>
              <a:rPr lang="en-US" sz="1250" b="1" baseline="-40000" dirty="0">
                <a:solidFill>
                  <a:srgbClr val="0F51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</a:t>
            </a:r>
            <a:pPr indent="0" marL="0">
              <a:buNone/>
            </a:pPr>
            <a:r>
              <a:rPr lang="en-US" sz="1250" b="1" dirty="0">
                <a:solidFill>
                  <a:srgbClr val="0F51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ΔE</a:t>
            </a:r>
            <a:pPr indent="0" marL="0">
              <a:buNone/>
            </a:pPr>
            <a:r>
              <a:rPr lang="en-US" sz="1250" b="1" baseline="-40000" dirty="0">
                <a:solidFill>
                  <a:srgbClr val="0F51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λ</a:t>
            </a:r>
            <a:pPr indent="0" marL="0">
              <a:buNone/>
            </a:pPr>
            <a:r>
              <a:rPr lang="en-US" sz="1250" b="1" dirty="0">
                <a:solidFill>
                  <a:srgbClr val="0F51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  (15)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4572000" y="4224528"/>
            <a:ext cx="4206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bias lamp sets a realistic injection level; the lock-in recovers only the small chopped signal.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2026-08-14T06:05:42Z</dcterms:created>
  <dcterms:modified xsi:type="dcterms:W3CDTF">2026-08-14T06:05:42Z</dcterms:modified>
</cp:coreProperties>
</file>