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Crystalline silicon solar cell — cross-section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011680" y="786384"/>
            <a:ext cx="0" cy="36576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200400" y="786384"/>
            <a:ext cx="0" cy="36576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54880" y="786384"/>
            <a:ext cx="0" cy="36576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35040" y="786384"/>
            <a:ext cx="0" cy="36576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light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207008"/>
            <a:ext cx="4572000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353312"/>
            <a:ext cx="4572000" cy="274320"/>
          </a:xfrm>
          <a:prstGeom prst="rect">
            <a:avLst/>
          </a:prstGeom>
          <a:solidFill>
            <a:srgbClr val="A8C4E0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627632"/>
            <a:ext cx="4572000" cy="178308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410712"/>
            <a:ext cx="4572000" cy="201168"/>
          </a:xfrm>
          <a:prstGeom prst="rect">
            <a:avLst/>
          </a:prstGeom>
          <a:solidFill>
            <a:srgbClr val="D3BFA6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611880"/>
            <a:ext cx="4572000" cy="292608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969264"/>
            <a:ext cx="50292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969264"/>
            <a:ext cx="50292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969264"/>
            <a:ext cx="502920" cy="237744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069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contact fingers (Ag)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65392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anti-reflection coating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65392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n⁺ emitter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65392" y="23911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p-type base  (absorber)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65392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p⁺ back surface field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65392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metallisation (Al)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44752" y="1353312"/>
            <a:ext cx="0" cy="20574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07008" y="20848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12984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1627632"/>
            <a:ext cx="914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3410712"/>
            <a:ext cx="914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1627632"/>
            <a:ext cx="0" cy="1783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4752" y="24094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389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selects depth: blue light is absorbed within the emitter and coating, red light reaches the rear.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incident photons go — EQE vs IQE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5669280" cy="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1636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surface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960120"/>
            <a:ext cx="502920" cy="73152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84048" y="1042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photons  Φ₀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50592" y="1719072"/>
            <a:ext cx="566928" cy="-713232"/>
          </a:xfrm>
          <a:prstGeom prst="line">
            <a:avLst/>
          </a:prstGeom>
          <a:noFill/>
          <a:ln w="38100">
            <a:solidFill>
              <a:srgbClr val="D95F0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63240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 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5669280" cy="310896"/>
          </a:xfrm>
          <a:prstGeom prst="rect">
            <a:avLst/>
          </a:prstGeom>
          <a:solidFill>
            <a:srgbClr val="E5E1F2"/>
          </a:solidFill>
          <a:ln w="12700">
            <a:solidFill>
              <a:srgbClr val="7570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57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coating + emitter:  parasitic absorption  Aₑₓₜ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48840" y="2112264"/>
            <a:ext cx="0" cy="384048"/>
          </a:xfrm>
          <a:prstGeom prst="line">
            <a:avLst/>
          </a:prstGeom>
          <a:noFill/>
          <a:ln w="38100">
            <a:solidFill>
              <a:srgbClr val="1B9E7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33172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Tₑₓₜ = 1 − R − Aₑₓₜ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5669280" cy="96012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51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absorber:  photons absorbed → electron-hole pairs generated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3291840"/>
            <a:ext cx="-502920" cy="384048"/>
          </a:xfrm>
          <a:prstGeom prst="line">
            <a:avLst/>
          </a:prstGeom>
          <a:noFill/>
          <a:ln w="31750">
            <a:solidFill>
              <a:srgbClr val="1B9E7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3291840"/>
            <a:ext cx="502920" cy="384048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" y="3703320"/>
            <a:ext cx="1691640" cy="566928"/>
          </a:xfrm>
          <a:prstGeom prst="rect">
            <a:avLst/>
          </a:prstGeom>
          <a:solidFill>
            <a:srgbClr val="DFF3E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03320"/>
            <a:ext cx="1691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photocurrent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3703320"/>
            <a:ext cx="1417320" cy="566928"/>
          </a:xfrm>
          <a:prstGeom prst="rect">
            <a:avLst/>
          </a:prstGeom>
          <a:solidFill>
            <a:srgbClr val="FBE4E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703320"/>
            <a:ext cx="1417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recombined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A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2560320"/>
            <a:ext cx="2057400" cy="1709928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6883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EQE  =  collected / incident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39712" y="29992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IQE  =  collected / entered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39712" y="3291840"/>
            <a:ext cx="1810512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34015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IQE = EQE / (1 − R)      (10)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37124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EQE = Tₑₓₜ × IQE        (11)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9712" y="4005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optics × electronics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5537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EQE counts every incident photon, so it is charged for reflection. IQE divides that out and reports only how well the cell converts the light it actually receives.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depth and carrier collection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43000" y="1234440"/>
            <a:ext cx="6400800" cy="169164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234440"/>
            <a:ext cx="146304" cy="1691640"/>
          </a:xfrm>
          <a:prstGeom prst="rect">
            <a:avLst/>
          </a:prstGeom>
          <a:solidFill>
            <a:srgbClr val="A8C4E0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496" y="1234440"/>
            <a:ext cx="146304" cy="1691640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41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/ junction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0" y="941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surface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9304" y="1618488"/>
            <a:ext cx="610819" cy="0"/>
          </a:xfrm>
          <a:prstGeom prst="line">
            <a:avLst/>
          </a:prstGeom>
          <a:noFill/>
          <a:ln w="31750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362456" y="1289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5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nm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9304" y="2075688"/>
            <a:ext cx="2748686" cy="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62456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nm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89304" y="2532888"/>
            <a:ext cx="5680619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362456" y="2203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nm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43000" y="3072384"/>
            <a:ext cx="64008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886200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 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" y="3127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42632" y="3127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" y="3584448"/>
            <a:ext cx="6400800" cy="713232"/>
          </a:xfrm>
          <a:prstGeom prst="rtTriangle">
            <a:avLst/>
          </a:prstGeom>
          <a:solidFill>
            <a:srgbClr val="DFF3EC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efficiency  η</a:t>
            </a:r>
            <a:pPr indent="0" marL="0">
              <a:buNone/>
            </a:pPr>
            <a:r>
              <a:rPr lang="en-US" sz="1100" b="1" baseline="-4000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39684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968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 generates carriers where collection is efficient but front losses are largest; red light generates them deep, where the diffusion length and rear surface decide the outcome.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Al-BSF vs PERC — the rear side sets the near-IR response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383280" cy="128016"/>
          </a:xfrm>
          <a:prstGeom prst="rect">
            <a:avLst/>
          </a:prstGeom>
          <a:solidFill>
            <a:srgbClr val="5B9BD5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62456"/>
            <a:ext cx="3383280" cy="219456"/>
          </a:xfrm>
          <a:prstGeom prst="rect">
            <a:avLst/>
          </a:prstGeom>
          <a:solidFill>
            <a:srgbClr val="A8C4E0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81912"/>
            <a:ext cx="3383280" cy="123444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816352"/>
            <a:ext cx="3383280" cy="201168"/>
          </a:xfrm>
          <a:prstGeom prst="rect">
            <a:avLst/>
          </a:prstGeom>
          <a:solidFill>
            <a:srgbClr val="D3BFA6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41064" y="27980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p⁺ Al-BSF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38328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234440"/>
            <a:ext cx="3383280" cy="128016"/>
          </a:xfrm>
          <a:prstGeom prst="rect">
            <a:avLst/>
          </a:prstGeom>
          <a:solidFill>
            <a:srgbClr val="5B9BD5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362456"/>
            <a:ext cx="3383280" cy="219456"/>
          </a:xfrm>
          <a:prstGeom prst="rect">
            <a:avLst/>
          </a:prstGeom>
          <a:solidFill>
            <a:srgbClr val="A8C4E0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81912"/>
            <a:ext cx="3383280" cy="123444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2816352"/>
            <a:ext cx="3383280" cy="201168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816352"/>
            <a:ext cx="256032" cy="201168"/>
          </a:xfrm>
          <a:prstGeom prst="rect">
            <a:avLst/>
          </a:prstGeom>
          <a:solidFill>
            <a:srgbClr val="595959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816352"/>
            <a:ext cx="256032" cy="201168"/>
          </a:xfrm>
          <a:prstGeom prst="rect">
            <a:avLst/>
          </a:prstGeom>
          <a:solidFill>
            <a:srgbClr val="595959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816352"/>
            <a:ext cx="256032" cy="201168"/>
          </a:xfrm>
          <a:prstGeom prst="rect">
            <a:avLst/>
          </a:prstGeom>
          <a:solidFill>
            <a:srgbClr val="595959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72491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dielectric +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contacts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3017520"/>
            <a:ext cx="338328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841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Al-BSF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841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1691640"/>
            <a:ext cx="2331720" cy="109728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55448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at rear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691640"/>
            <a:ext cx="1600200" cy="109728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6812280" y="1783080"/>
            <a:ext cx="1143000" cy="100584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760720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back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3383280" cy="566928"/>
          </a:xfrm>
          <a:prstGeom prst="rect">
            <a:avLst/>
          </a:prstGeom>
          <a:solidFill>
            <a:srgbClr val="FBE4E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03320"/>
            <a:ext cx="3383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rear recombination (large S)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rear reflection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3703320"/>
            <a:ext cx="3383280" cy="566928"/>
          </a:xfrm>
          <a:prstGeom prst="rect">
            <a:avLst/>
          </a:prstGeom>
          <a:solidFill>
            <a:srgbClr val="DFF3E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03320"/>
            <a:ext cx="3383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passivated rear (small S)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reflector returns near-IR light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cells share the same front optics, so their EQE and IQE curves differ only above ~900 nm — the signature of a rear-side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spectral responsivity (DSR) measurement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1188720" cy="502920"/>
          </a:xfrm>
          <a:prstGeom prst="rect">
            <a:avLst/>
          </a:prstGeom>
          <a:solidFill>
            <a:srgbClr val="FDF2D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/ halogen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27632" y="1120140"/>
            <a:ext cx="2286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83664" y="868680"/>
            <a:ext cx="1188720" cy="502920"/>
          </a:xfrm>
          <a:prstGeom prst="rect">
            <a:avLst/>
          </a:prstGeom>
          <a:solidFill>
            <a:srgbClr val="FDF2D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3664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99816" y="1120140"/>
            <a:ext cx="2286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868680"/>
            <a:ext cx="1188720" cy="502920"/>
          </a:xfrm>
          <a:prstGeom prst="rect">
            <a:avLst/>
          </a:prstGeom>
          <a:solidFill>
            <a:srgbClr val="FDF2D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chopper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120140"/>
            <a:ext cx="2286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28032" y="868680"/>
            <a:ext cx="1188720" cy="502920"/>
          </a:xfrm>
          <a:prstGeom prst="rect">
            <a:avLst/>
          </a:prstGeom>
          <a:solidFill>
            <a:srgbClr val="FDF2D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1120140"/>
            <a:ext cx="2286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0216" y="868680"/>
            <a:ext cx="141732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868680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photodiode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22392" y="1371600"/>
            <a:ext cx="0" cy="96012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532120" y="1517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monochromatic,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chopped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1325880" cy="502920"/>
          </a:xfrm>
          <a:prstGeom prst="rect">
            <a:avLst/>
          </a:prstGeom>
          <a:solidFill>
            <a:srgbClr val="FFF6D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783080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lamp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(white light)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01952" y="2212848"/>
            <a:ext cx="1417320" cy="256032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2395728"/>
            <a:ext cx="3017520" cy="256032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651760"/>
            <a:ext cx="3017520" cy="16459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8712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cell on temperature-controlled chuck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62472" y="2523744"/>
            <a:ext cx="3657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240280"/>
            <a:ext cx="1463040" cy="502920"/>
          </a:xfrm>
          <a:prstGeom prst="rect">
            <a:avLst/>
          </a:prstGeom>
          <a:solidFill>
            <a:srgbClr val="E9EEF5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trans-impedance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78040" y="2743200"/>
            <a:ext cx="0" cy="3017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46520" y="3063240"/>
            <a:ext cx="1463040" cy="438912"/>
          </a:xfrm>
          <a:prstGeom prst="rect">
            <a:avLst/>
          </a:prstGeom>
          <a:solidFill>
            <a:srgbClr val="E9EEF5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063240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amplifier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70448" y="3282696"/>
            <a:ext cx="5486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434340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Δj</a:t>
            </a:r>
            <a:pPr algn="r" indent="0" marL="0">
              <a:buNone/>
            </a:pPr>
            <a:r>
              <a:rPr lang="en-US" sz="1050" b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pPr algn="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(AC signal)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611880"/>
            <a:ext cx="393192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611880"/>
            <a:ext cx="3931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cell of known SR  →  sets the absolute scale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187952"/>
            <a:ext cx="3931920" cy="502920"/>
          </a:xfrm>
          <a:prstGeom prst="rect">
            <a:avLst/>
          </a:prstGeom>
          <a:solidFill>
            <a:srgbClr val="EAF3EF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1879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s̃ (λ, E</a:t>
            </a:r>
            <a:pPr indent="0" marL="0">
              <a:buNone/>
            </a:pPr>
            <a:r>
              <a:rPr lang="en-US" sz="1250" b="1" baseline="-4000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pPr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=  Δj</a:t>
            </a:r>
            <a:pPr indent="0" marL="0">
              <a:buNone/>
            </a:pPr>
            <a:r>
              <a:rPr lang="en-US" sz="1250" b="1" baseline="-4000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pPr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ΔE</a:t>
            </a:r>
            <a:pPr indent="0" marL="0">
              <a:buNone/>
            </a:pPr>
            <a:r>
              <a:rPr lang="en-US" sz="1250" b="1" baseline="-4000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pPr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(15)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0" y="42245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 lamp sets a realistic injection level; the lock-in recovers only the small chopped signal.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update these figures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06908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Edit, then export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any slide in this deck, then export every slide as JPEG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about 150 dpi  (File → Export → JPEG → All slides).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Simpler: run this in the EQE folder — it renders every slide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copies the JPEGs to both places for you: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249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./export_figures.sh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Save each JPEG in BOTH folders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24358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file name in each. Miss the second one and the website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showing the old picture.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1888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EQE/figures/&lt;name&gt;.jpg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Jupyter notebook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18888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docs/assets/&lt;name&gt;.jpg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8888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documentation website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→ file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32369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fig_cell_structure.jpg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511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3511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fig_optical_losses.jpg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78561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85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37856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fig_collection_efficiency.jpg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4059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40599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fig_albsf_vs_perc.jpg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33425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34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91640" y="43342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fig_measurement_setup.jpg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6451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.pptx is deliberately not tracked by git — it is your local working copy. The exported .jpg files are what the repository and the website use, so those are the ones to commit.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2026-08-14T21:10:38Z</dcterms:created>
  <dcterms:modified xsi:type="dcterms:W3CDTF">2026-08-14T21:10:38Z</dcterms:modified>
</cp:coreProperties>
</file>