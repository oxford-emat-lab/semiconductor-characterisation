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Arial"/>
              </a:rPr>
              <a:t>Fermi-level alignment and the contact potential difference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" y="9144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10896" y="950976"/>
            <a:ext cx="24323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A  ·  isolated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" y="1188720"/>
            <a:ext cx="24323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Vacuum levels line up.</a:t>
            </a:r>
          </a:p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The Fermi levels do not.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55648"/>
            <a:ext cx="713232" cy="0"/>
          </a:xfrm>
          <a:prstGeom prst="line">
            <a:avLst/>
          </a:prstGeom>
          <a:ln w="20320">
            <a:solidFill>
              <a:srgbClr val="7570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" y="2670048"/>
            <a:ext cx="713232" cy="0"/>
          </a:xfrm>
          <a:prstGeom prst="line">
            <a:avLst/>
          </a:prstGeom>
          <a:ln w="3048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05256" y="1755648"/>
            <a:ext cx="0" cy="914400"/>
          </a:xfrm>
          <a:prstGeom prst="line">
            <a:avLst/>
          </a:prstGeom>
          <a:ln w="15240">
            <a:solidFill>
              <a:srgbClr val="1F293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69264" y="212140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Arial"/>
              </a:rPr>
              <a:t>Φ</a:t>
            </a:r>
            <a:r>
              <a:rPr sz="792" b="0" i="1" baseline="-25000">
                <a:solidFill>
                  <a:srgbClr val="1F2937"/>
                </a:solidFill>
                <a:latin typeface="Arial"/>
              </a:rPr>
              <a:t>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00784" y="1755648"/>
            <a:ext cx="713231" cy="0"/>
          </a:xfrm>
          <a:prstGeom prst="line">
            <a:avLst/>
          </a:prstGeom>
          <a:ln w="20320">
            <a:solidFill>
              <a:srgbClr val="7570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00784" y="2212848"/>
            <a:ext cx="713231" cy="0"/>
          </a:xfrm>
          <a:prstGeom prst="line">
            <a:avLst/>
          </a:prstGeom>
          <a:ln w="3048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57400" y="1755648"/>
            <a:ext cx="0" cy="457200"/>
          </a:xfrm>
          <a:prstGeom prst="line">
            <a:avLst/>
          </a:prstGeom>
          <a:ln w="15240">
            <a:solidFill>
              <a:srgbClr val="1F293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121408" y="18928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Arial"/>
              </a:rPr>
              <a:t>Φ</a:t>
            </a:r>
            <a:r>
              <a:rPr sz="792" b="0" i="1" baseline="-25000">
                <a:solidFill>
                  <a:srgbClr val="1F2937"/>
                </a:solidFill>
                <a:latin typeface="Arial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" y="1636776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1">
                <a:solidFill>
                  <a:srgbClr val="7570B3"/>
                </a:solidFill>
                <a:latin typeface="Arial"/>
              </a:rPr>
              <a:t>E</a:t>
            </a:r>
            <a:r>
              <a:rPr sz="684" b="0" i="1" baseline="-25000">
                <a:solidFill>
                  <a:srgbClr val="7570B3"/>
                </a:solidFill>
                <a:latin typeface="Arial"/>
              </a:rPr>
              <a:t>vac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" y="2651760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1">
                <a:solidFill>
                  <a:srgbClr val="0F5132"/>
                </a:solidFill>
                <a:latin typeface="Arial"/>
              </a:rPr>
              <a:t>E</a:t>
            </a:r>
            <a:r>
              <a:rPr sz="684" b="0" i="1" baseline="-25000">
                <a:solidFill>
                  <a:srgbClr val="0F5132"/>
                </a:solidFill>
                <a:latin typeface="Arial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401568"/>
            <a:ext cx="566928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773936" y="3401568"/>
            <a:ext cx="566928" cy="256032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9496" y="367588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rial"/>
              </a:rPr>
              <a:t>probe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39" y="367588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rial"/>
              </a:rPr>
              <a:t>sample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45536" y="9144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255264" y="950976"/>
            <a:ext cx="24323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B  ·  connected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55264" y="1188720"/>
            <a:ext cx="24323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Electrons move until the Fermi</a:t>
            </a:r>
          </a:p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levels match. Now E</a:t>
            </a:r>
            <a:r>
              <a:rPr sz="684" b="0" i="0" baseline="-25000">
                <a:solidFill>
                  <a:srgbClr val="6B7280"/>
                </a:solidFill>
                <a:latin typeface="Arial"/>
              </a:rPr>
              <a:t>vac</a:t>
            </a:r>
            <a:r>
              <a:rPr sz="950" b="0" i="0">
                <a:solidFill>
                  <a:srgbClr val="6B7280"/>
                </a:solidFill>
                <a:latin typeface="Arial"/>
              </a:rPr>
              <a:t> does not.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93008" y="1755648"/>
            <a:ext cx="713232" cy="0"/>
          </a:xfrm>
          <a:prstGeom prst="line">
            <a:avLst/>
          </a:prstGeom>
          <a:ln w="20320">
            <a:solidFill>
              <a:srgbClr val="7570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493008" y="2670048"/>
            <a:ext cx="713232" cy="0"/>
          </a:xfrm>
          <a:prstGeom prst="line">
            <a:avLst/>
          </a:prstGeom>
          <a:ln w="3048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49624" y="1755648"/>
            <a:ext cx="0" cy="914400"/>
          </a:xfrm>
          <a:prstGeom prst="line">
            <a:avLst/>
          </a:prstGeom>
          <a:ln w="15240">
            <a:solidFill>
              <a:srgbClr val="1F293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13632" y="212140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Arial"/>
              </a:rPr>
              <a:t>Φ</a:t>
            </a:r>
            <a:r>
              <a:rPr sz="792" b="0" i="1" baseline="-25000">
                <a:solidFill>
                  <a:srgbClr val="1F2937"/>
                </a:solidFill>
                <a:latin typeface="Arial"/>
              </a:rPr>
              <a:t>p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645152" y="2212848"/>
            <a:ext cx="713232" cy="0"/>
          </a:xfrm>
          <a:prstGeom prst="line">
            <a:avLst/>
          </a:prstGeom>
          <a:ln w="20320">
            <a:solidFill>
              <a:srgbClr val="7570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45152" y="2670048"/>
            <a:ext cx="713232" cy="0"/>
          </a:xfrm>
          <a:prstGeom prst="line">
            <a:avLst/>
          </a:prstGeom>
          <a:ln w="3048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001768" y="2212848"/>
            <a:ext cx="0" cy="457200"/>
          </a:xfrm>
          <a:prstGeom prst="line">
            <a:avLst/>
          </a:prstGeom>
          <a:ln w="15240">
            <a:solidFill>
              <a:srgbClr val="1F293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065776" y="235000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Arial"/>
              </a:rPr>
              <a:t>Φ</a:t>
            </a:r>
            <a:r>
              <a:rPr sz="792" b="0" i="1" baseline="-25000">
                <a:solidFill>
                  <a:srgbClr val="1F2937"/>
                </a:solidFill>
                <a:latin typeface="Arial"/>
              </a:rPr>
              <a:t>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72384" y="1636776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1">
                <a:solidFill>
                  <a:srgbClr val="7570B3"/>
                </a:solidFill>
                <a:latin typeface="Arial"/>
              </a:rPr>
              <a:t>E</a:t>
            </a:r>
            <a:r>
              <a:rPr sz="684" b="0" i="1" baseline="-25000">
                <a:solidFill>
                  <a:srgbClr val="7570B3"/>
                </a:solidFill>
                <a:latin typeface="Arial"/>
              </a:rPr>
              <a:t>vac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72384" y="2651760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1">
                <a:solidFill>
                  <a:srgbClr val="0F5132"/>
                </a:solidFill>
                <a:latin typeface="Arial"/>
              </a:rPr>
              <a:t>E</a:t>
            </a:r>
            <a:r>
              <a:rPr sz="684" b="0" i="1" baseline="-25000">
                <a:solidFill>
                  <a:srgbClr val="0F5132"/>
                </a:solidFill>
                <a:latin typeface="Arial"/>
              </a:rP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66160" y="3401568"/>
            <a:ext cx="566928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4718304" y="3401568"/>
            <a:ext cx="566928" cy="256032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83864" y="367588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rial"/>
              </a:rPr>
              <a:t>probe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6008" y="367588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rial"/>
              </a:rPr>
              <a:t>sample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3328415" y="3529584"/>
            <a:ext cx="237745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328415" y="3026664"/>
            <a:ext cx="0" cy="50292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85232" y="3529584"/>
            <a:ext cx="237744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522976" y="3026664"/>
            <a:ext cx="0" cy="50292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328415" y="3026664"/>
            <a:ext cx="2194561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169663" y="33832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69663" y="348386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9663" y="35844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17136" y="33832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17136" y="348386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17136" y="358444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206240" y="1755648"/>
            <a:ext cx="310896" cy="0"/>
          </a:xfrm>
          <a:prstGeom prst="line">
            <a:avLst/>
          </a:prstGeom>
          <a:ln w="11430">
            <a:solidFill>
              <a:srgbClr val="D95F0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17136" y="1755648"/>
            <a:ext cx="0" cy="457200"/>
          </a:xfrm>
          <a:prstGeom prst="line">
            <a:avLst/>
          </a:prstGeom>
          <a:ln w="25400">
            <a:solidFill>
              <a:srgbClr val="D95F0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785616" y="1892807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D95F02"/>
                </a:solidFill>
                <a:latin typeface="Arial"/>
              </a:rPr>
              <a:t>qV</a:t>
            </a:r>
            <a:r>
              <a:rPr sz="719" b="1" i="0" baseline="-25000">
                <a:solidFill>
                  <a:srgbClr val="D95F02"/>
                </a:solidFill>
                <a:latin typeface="Arial"/>
              </a:rPr>
              <a:t>CPD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9903" y="914400"/>
            <a:ext cx="26517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6199631" y="950976"/>
            <a:ext cx="243230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C  ·  nulled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9631" y="1188720"/>
            <a:ext cx="243230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A backing voltage removes the</a:t>
            </a:r>
          </a:p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field, and is what is read.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437375" y="1755648"/>
            <a:ext cx="713232" cy="0"/>
          </a:xfrm>
          <a:prstGeom prst="line">
            <a:avLst/>
          </a:prstGeom>
          <a:ln w="20320">
            <a:solidFill>
              <a:srgbClr val="7570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437375" y="2670048"/>
            <a:ext cx="713232" cy="0"/>
          </a:xfrm>
          <a:prstGeom prst="line">
            <a:avLst/>
          </a:prstGeom>
          <a:ln w="3048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793991" y="1755648"/>
            <a:ext cx="0" cy="914400"/>
          </a:xfrm>
          <a:prstGeom prst="line">
            <a:avLst/>
          </a:prstGeom>
          <a:ln w="15240">
            <a:solidFill>
              <a:srgbClr val="1F293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857999" y="212140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Arial"/>
              </a:rPr>
              <a:t>Φ</a:t>
            </a:r>
            <a:r>
              <a:rPr sz="792" b="0" i="1" baseline="-25000">
                <a:solidFill>
                  <a:srgbClr val="1F2937"/>
                </a:solidFill>
                <a:latin typeface="Arial"/>
              </a:rPr>
              <a:t>p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589519" y="1755648"/>
            <a:ext cx="713232" cy="0"/>
          </a:xfrm>
          <a:prstGeom prst="line">
            <a:avLst/>
          </a:prstGeom>
          <a:ln w="20320">
            <a:solidFill>
              <a:srgbClr val="7570B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89519" y="2212848"/>
            <a:ext cx="713232" cy="0"/>
          </a:xfrm>
          <a:prstGeom prst="line">
            <a:avLst/>
          </a:prstGeom>
          <a:ln w="3048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946136" y="1755648"/>
            <a:ext cx="0" cy="457200"/>
          </a:xfrm>
          <a:prstGeom prst="line">
            <a:avLst/>
          </a:prstGeom>
          <a:ln w="15240">
            <a:solidFill>
              <a:srgbClr val="1F2937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8010144" y="18928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Arial"/>
              </a:rPr>
              <a:t>Φ</a:t>
            </a:r>
            <a:r>
              <a:rPr sz="792" b="0" i="1" baseline="-25000">
                <a:solidFill>
                  <a:srgbClr val="1F2937"/>
                </a:solidFill>
                <a:latin typeface="Arial"/>
              </a:rPr>
              <a:t>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016751" y="1636776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1">
                <a:solidFill>
                  <a:srgbClr val="7570B3"/>
                </a:solidFill>
                <a:latin typeface="Arial"/>
              </a:rPr>
              <a:t>E</a:t>
            </a:r>
            <a:r>
              <a:rPr sz="684" b="0" i="1" baseline="-25000">
                <a:solidFill>
                  <a:srgbClr val="7570B3"/>
                </a:solidFill>
                <a:latin typeface="Arial"/>
              </a:rPr>
              <a:t>vac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16751" y="2651760"/>
            <a:ext cx="47548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50" b="0" i="1">
                <a:solidFill>
                  <a:srgbClr val="0F5132"/>
                </a:solidFill>
                <a:latin typeface="Arial"/>
              </a:rPr>
              <a:t>E</a:t>
            </a:r>
            <a:r>
              <a:rPr sz="684" b="0" i="1" baseline="-25000">
                <a:solidFill>
                  <a:srgbClr val="0F5132"/>
                </a:solidFill>
                <a:latin typeface="Arial"/>
              </a:rPr>
              <a:t>F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10527" y="3401568"/>
            <a:ext cx="566928" cy="256032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7662671" y="3401568"/>
            <a:ext cx="566928" cy="256032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6428231" y="367588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rial"/>
              </a:rPr>
              <a:t>probe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0375" y="367588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rial"/>
              </a:rPr>
              <a:t>sample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6272783" y="3529584"/>
            <a:ext cx="237744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272783" y="3026664"/>
            <a:ext cx="0" cy="50292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229599" y="3529584"/>
            <a:ext cx="237744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8467343" y="3026664"/>
            <a:ext cx="0" cy="50292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272783" y="3026664"/>
            <a:ext cx="566929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900415" y="3026664"/>
            <a:ext cx="566928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278623" y="3026664"/>
            <a:ext cx="182880" cy="0"/>
          </a:xfrm>
          <a:prstGeom prst="line">
            <a:avLst/>
          </a:prstGeom>
          <a:ln w="2794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324343" y="3090672"/>
            <a:ext cx="91440" cy="0"/>
          </a:xfrm>
          <a:prstGeom prst="line">
            <a:avLst/>
          </a:prstGeom>
          <a:ln w="2794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958583" y="278892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F5132"/>
                </a:solidFill>
                <a:latin typeface="Arial"/>
              </a:rPr>
              <a:t>V</a:t>
            </a:r>
            <a:r>
              <a:rPr sz="756" b="1" i="0" baseline="-25000">
                <a:solidFill>
                  <a:srgbClr val="0F5132"/>
                </a:solidFill>
                <a:latin typeface="Arial"/>
              </a:rPr>
              <a:t>b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168" y="4041648"/>
            <a:ext cx="87416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D95F02"/>
                </a:solidFill>
                <a:latin typeface="Arial"/>
              </a:rPr>
              <a:t>CPD  =  (Φ</a:t>
            </a:r>
            <a:r>
              <a:rPr sz="1080" b="1" i="0" baseline="-25000">
                <a:solidFill>
                  <a:srgbClr val="D95F02"/>
                </a:solidFill>
                <a:latin typeface="Arial"/>
              </a:rPr>
              <a:t>s</a:t>
            </a:r>
            <a:r>
              <a:rPr sz="1500" b="1" i="0">
                <a:solidFill>
                  <a:srgbClr val="D95F02"/>
                </a:solidFill>
                <a:latin typeface="Arial"/>
              </a:rPr>
              <a:t> − Φ</a:t>
            </a:r>
            <a:r>
              <a:rPr sz="1080" b="1" i="0" baseline="-25000">
                <a:solidFill>
                  <a:srgbClr val="D95F02"/>
                </a:solidFill>
                <a:latin typeface="Arial"/>
              </a:rPr>
              <a:t>p</a:t>
            </a:r>
            <a:r>
              <a:rPr sz="1500" b="1" i="0">
                <a:solidFill>
                  <a:srgbClr val="D95F02"/>
                </a:solidFill>
                <a:latin typeface="Arial"/>
              </a:rPr>
              <a:t>) / q   =   − V</a:t>
            </a:r>
            <a:r>
              <a:rPr sz="1080" b="1" i="0" baseline="-25000">
                <a:solidFill>
                  <a:srgbClr val="D95F02"/>
                </a:solidFill>
                <a:latin typeface="Arial"/>
              </a:rPr>
              <a:t>b</a:t>
            </a:r>
            <a:r>
              <a:rPr sz="1500" b="1" i="0">
                <a:solidFill>
                  <a:srgbClr val="D95F02"/>
                </a:solidFill>
                <a:latin typeface="Arial"/>
              </a:rPr>
              <a:t> (null)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Neither work function changes on connection — only the offset between the two vacuum levels, and that offset is the CPD.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Arial"/>
              </a:rPr>
              <a:t>The vibrating capacitor, and where the measurement is made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41248"/>
            <a:ext cx="3977639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84048" y="987552"/>
            <a:ext cx="374903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D95F02"/>
                </a:solidFill>
                <a:latin typeface="Arial"/>
              </a:rPr>
              <a:t>i(t) = (V</a:t>
            </a:r>
            <a:r>
              <a:rPr sz="971" b="1" i="0" baseline="-25000">
                <a:solidFill>
                  <a:srgbClr val="D95F02"/>
                </a:solidFill>
                <a:latin typeface="Arial"/>
              </a:rPr>
              <a:t>b</a:t>
            </a:r>
            <a:r>
              <a:rPr sz="1350" b="1" i="0">
                <a:solidFill>
                  <a:srgbClr val="D95F02"/>
                </a:solidFill>
                <a:latin typeface="Arial"/>
              </a:rPr>
              <a:t> + CPD) · dC/dt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280160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Arial"/>
              </a:rPr>
              <a:t>a DC potential, read as an AC current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7320" y="2103120"/>
            <a:ext cx="1417320" cy="219456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962656" y="2084831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rial"/>
              </a:rPr>
              <a:t>probe tip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25980" y="1700784"/>
            <a:ext cx="0" cy="329184"/>
          </a:xfrm>
          <a:prstGeom prst="line">
            <a:avLst/>
          </a:prstGeom>
          <a:ln w="27940">
            <a:solidFill>
              <a:srgbClr val="E8A33D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53996" y="1719072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E8A33D"/>
                </a:solidFill>
                <a:latin typeface="Arial"/>
              </a:rPr>
              <a:t>d</a:t>
            </a:r>
            <a:r>
              <a:rPr sz="719" b="0" i="1" baseline="-25000">
                <a:solidFill>
                  <a:srgbClr val="E8A33D"/>
                </a:solidFill>
                <a:latin typeface="Arial"/>
              </a:rPr>
              <a:t>1</a:t>
            </a:r>
            <a:r>
              <a:rPr sz="1000" b="0" i="1">
                <a:solidFill>
                  <a:srgbClr val="E8A33D"/>
                </a:solidFill>
                <a:latin typeface="Arial"/>
              </a:rPr>
              <a:t> sin ωt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234440" y="2322576"/>
            <a:ext cx="0" cy="475488"/>
          </a:xfrm>
          <a:prstGeom prst="line">
            <a:avLst/>
          </a:prstGeom>
          <a:ln w="12700">
            <a:solidFill>
              <a:srgbClr val="6B7280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68680" y="248716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6B7280"/>
                </a:solidFill>
                <a:latin typeface="Arial"/>
              </a:rPr>
              <a:t>d</a:t>
            </a:r>
            <a:r>
              <a:rPr sz="792" b="0" i="1" baseline="-25000">
                <a:solidFill>
                  <a:srgbClr val="6B7280"/>
                </a:solidFill>
                <a:latin typeface="Arial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6876" y="2414015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C(t)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798064"/>
            <a:ext cx="1874519" cy="256032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188720" y="3054096"/>
            <a:ext cx="1874519" cy="128016"/>
          </a:xfrm>
          <a:prstGeom prst="rect">
            <a:avLst/>
          </a:prstGeom>
          <a:solidFill>
            <a:srgbClr val="8C8C8C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182112" y="2798064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rial"/>
              </a:rPr>
              <a:t>sample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3017520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stage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66928" y="2212848"/>
            <a:ext cx="850392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6928" y="2212848"/>
            <a:ext cx="0" cy="566928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9768" y="2779776"/>
            <a:ext cx="274320" cy="0"/>
          </a:xfrm>
          <a:prstGeom prst="line">
            <a:avLst/>
          </a:prstGeom>
          <a:ln w="3048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8348" y="2862072"/>
            <a:ext cx="137160" cy="0"/>
          </a:xfrm>
          <a:prstGeom prst="line">
            <a:avLst/>
          </a:prstGeom>
          <a:ln w="30480">
            <a:solidFill>
              <a:srgbClr val="0F51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8016" y="2761487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50" b="1" i="0">
                <a:solidFill>
                  <a:srgbClr val="0F5132"/>
                </a:solidFill>
                <a:latin typeface="Arial"/>
              </a:rPr>
              <a:t>V</a:t>
            </a:r>
            <a:r>
              <a:rPr sz="827" b="1" i="0" baseline="-25000">
                <a:solidFill>
                  <a:srgbClr val="0F5132"/>
                </a:solidFill>
                <a:latin typeface="Arial"/>
              </a:rPr>
              <a:t>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2862072"/>
            <a:ext cx="0" cy="1188719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66928" y="3776472"/>
            <a:ext cx="1170432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737360" y="3566160"/>
            <a:ext cx="566928" cy="420624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572768" y="4023360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  <a:latin typeface="Arial"/>
              </a:rPr>
              <a:t>preamp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304288" y="3776472"/>
            <a:ext cx="758952" cy="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063240" y="3182112"/>
            <a:ext cx="0" cy="594360"/>
          </a:xfrm>
          <a:prstGeom prst="line">
            <a:avLst/>
          </a:prstGeom>
          <a:ln w="1778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526280" y="841248"/>
            <a:ext cx="43434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617720" y="987552"/>
            <a:ext cx="4160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i="0">
                <a:solidFill>
                  <a:srgbClr val="D95F02"/>
                </a:solidFill>
                <a:latin typeface="Arial"/>
              </a:rPr>
              <a:t>V</a:t>
            </a:r>
            <a:r>
              <a:rPr sz="971" b="1" i="0" baseline="-25000">
                <a:solidFill>
                  <a:srgbClr val="D95F02"/>
                </a:solidFill>
                <a:latin typeface="Arial"/>
              </a:rPr>
              <a:t>ptp</a:t>
            </a:r>
            <a:r>
              <a:rPr sz="1350" b="1" i="0">
                <a:solidFill>
                  <a:srgbClr val="D95F02"/>
                </a:solidFill>
                <a:latin typeface="Arial"/>
              </a:rPr>
              <a:t> = k (V</a:t>
            </a:r>
            <a:r>
              <a:rPr sz="971" b="1" i="0" baseline="-25000">
                <a:solidFill>
                  <a:srgbClr val="D95F02"/>
                </a:solidFill>
                <a:latin typeface="Arial"/>
              </a:rPr>
              <a:t>b</a:t>
            </a:r>
            <a:r>
              <a:rPr sz="1350" b="1" i="0">
                <a:solidFill>
                  <a:srgbClr val="D95F02"/>
                </a:solidFill>
                <a:latin typeface="Arial"/>
              </a:rPr>
              <a:t> + CPD)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1280160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Arial"/>
              </a:rPr>
              <a:t>measure away from the null, then extrapolate to it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74336" y="1801368"/>
            <a:ext cx="768096" cy="2249424"/>
          </a:xfrm>
          <a:prstGeom prst="rect">
            <a:avLst/>
          </a:prstGeom>
          <a:solidFill>
            <a:srgbClr val="E9F4EC"/>
          </a:solidFill>
          <a:ln w="12700">
            <a:solidFill>
              <a:srgbClr val="CB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735824" y="1801368"/>
            <a:ext cx="768096" cy="2249424"/>
          </a:xfrm>
          <a:prstGeom prst="rect">
            <a:avLst/>
          </a:prstGeom>
          <a:solidFill>
            <a:srgbClr val="E9F4EC"/>
          </a:solidFill>
          <a:ln w="12700">
            <a:solidFill>
              <a:srgbClr val="CBE4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956048" y="2779776"/>
            <a:ext cx="3566160" cy="292608"/>
          </a:xfrm>
          <a:prstGeom prst="rect">
            <a:avLst/>
          </a:prstGeom>
          <a:solidFill>
            <a:srgbClr val="FBE4E4"/>
          </a:solidFill>
          <a:ln w="12700">
            <a:solidFill>
              <a:srgbClr val="FBE4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4956048" y="2926080"/>
            <a:ext cx="3566160" cy="0"/>
          </a:xfrm>
          <a:prstGeom prst="line">
            <a:avLst/>
          </a:prstGeom>
          <a:ln w="1524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39127" y="1783080"/>
            <a:ext cx="0" cy="2286000"/>
          </a:xfrm>
          <a:prstGeom prst="line">
            <a:avLst/>
          </a:prstGeom>
          <a:ln w="1397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084064" y="1938528"/>
            <a:ext cx="3310128" cy="1975104"/>
          </a:xfrm>
          <a:prstGeom prst="line">
            <a:avLst/>
          </a:prstGeom>
          <a:ln w="33020">
            <a:solidFill>
              <a:srgbClr val="1F6F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5142219" y="3813230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5340827" y="3694724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5539435" y="3576218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7657917" y="2312151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7856524" y="2193645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055132" y="2075139"/>
            <a:ext cx="82296" cy="8229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992624" y="1874519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F5132"/>
                </a:solidFill>
                <a:latin typeface="Arial"/>
              </a:rPr>
              <a:t>off-null</a:t>
            </a:r>
          </a:p>
          <a:p>
            <a:pPr algn="ctr"/>
            <a:r>
              <a:rPr sz="900" b="1" i="0">
                <a:solidFill>
                  <a:srgbClr val="0F5132"/>
                </a:solidFill>
                <a:latin typeface="Arial"/>
              </a:rPr>
              <a:t>window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54112" y="359359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F5132"/>
                </a:solidFill>
                <a:latin typeface="Arial"/>
              </a:rPr>
              <a:t>off-null</a:t>
            </a:r>
          </a:p>
          <a:p>
            <a:pPr algn="ctr"/>
            <a:r>
              <a:rPr sz="900" b="1" i="0">
                <a:solidFill>
                  <a:srgbClr val="0F5132"/>
                </a:solidFill>
                <a:latin typeface="Arial"/>
              </a:rPr>
              <a:t>window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16168" y="2916936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  <a:latin typeface="Arial"/>
              </a:rPr>
              <a:t>noise floor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19" y="4123944"/>
            <a:ext cx="14996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6B7280"/>
                </a:solidFill>
                <a:latin typeface="Arial"/>
              </a:rPr>
              <a:t>null:  V</a:t>
            </a:r>
            <a:r>
              <a:rPr sz="756" b="1" i="0" baseline="-25000">
                <a:solidFill>
                  <a:srgbClr val="6B7280"/>
                </a:solidFill>
                <a:latin typeface="Arial"/>
              </a:rPr>
              <a:t>b</a:t>
            </a:r>
            <a:r>
              <a:rPr sz="1050" b="1" i="0">
                <a:solidFill>
                  <a:srgbClr val="6B7280"/>
                </a:solidFill>
                <a:latin typeface="Arial"/>
              </a:rPr>
              <a:t> = −CPD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999232"/>
            <a:ext cx="31089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1F2937"/>
                </a:solidFill>
                <a:latin typeface="Arial"/>
              </a:rPr>
              <a:t>V</a:t>
            </a:r>
            <a:r>
              <a:rPr sz="792" b="0" i="1" baseline="-25000">
                <a:solidFill>
                  <a:srgbClr val="1F2937"/>
                </a:solidFill>
                <a:latin typeface="Arial"/>
              </a:rPr>
              <a:t>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53712" y="1764792"/>
            <a:ext cx="3840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 i="1">
                <a:solidFill>
                  <a:srgbClr val="1F2937"/>
                </a:solidFill>
                <a:latin typeface="Arial"/>
              </a:rPr>
              <a:t>V</a:t>
            </a:r>
            <a:r>
              <a:rPr sz="792" b="0" i="1" baseline="-25000">
                <a:solidFill>
                  <a:srgbClr val="1F2937"/>
                </a:solidFill>
                <a:latin typeface="Arial"/>
              </a:rPr>
              <a:t>ptp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The gradient k drifts with spacing, area and gain; the zero crossing does not. So the crossing is the measurement — and it is also where the signal-to-noise ratio is worst.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Arial"/>
              </a:rPr>
              <a:t>A charged dielectric bends the bands of the semiconductor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" y="914400"/>
            <a:ext cx="422452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9184" y="950976"/>
            <a:ext cx="39684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Positive film charge  →  accumulation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170432"/>
            <a:ext cx="39684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electrons pile up at the surface;  φ</a:t>
            </a:r>
            <a:r>
              <a:rPr sz="684" b="0" i="0" baseline="-25000">
                <a:solidFill>
                  <a:srgbClr val="6B7280"/>
                </a:solidFill>
                <a:latin typeface="Arial"/>
              </a:rPr>
              <a:t>s</a:t>
            </a:r>
            <a:r>
              <a:rPr sz="950" b="0" i="0">
                <a:solidFill>
                  <a:srgbClr val="6B7280"/>
                </a:solidFill>
                <a:latin typeface="Arial"/>
              </a:rPr>
              <a:t> &gt; 0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63040"/>
            <a:ext cx="475488" cy="2395728"/>
          </a:xfrm>
          <a:prstGeom prst="rect">
            <a:avLst/>
          </a:prstGeom>
          <a:solidFill>
            <a:srgbClr val="F2C14E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87552" y="1463040"/>
            <a:ext cx="914400" cy="2395728"/>
          </a:xfrm>
          <a:prstGeom prst="rect">
            <a:avLst/>
          </a:prstGeom>
          <a:solidFill>
            <a:srgbClr val="BBD3EE"/>
          </a:solidFill>
          <a:ln w="12700">
            <a:solidFill>
              <a:srgbClr val="BB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65760" y="3913632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dielectric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9136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space charge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3913632"/>
            <a:ext cx="159105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neutral silicon (n-type)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901952" y="2139696"/>
            <a:ext cx="2103120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87552" y="2139696"/>
            <a:ext cx="914400" cy="292607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59935" y="2048255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1F2937"/>
                </a:solidFill>
                <a:latin typeface="Arial"/>
              </a:rPr>
              <a:t>c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901952" y="2542032"/>
            <a:ext cx="2103120" cy="0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87552" y="2542032"/>
            <a:ext cx="914400" cy="292607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59935" y="2450591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6B7280"/>
                </a:solidFill>
                <a:latin typeface="Arial"/>
              </a:rPr>
              <a:t>i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901952" y="3584448"/>
            <a:ext cx="2103120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987552" y="3584448"/>
            <a:ext cx="914400" cy="292608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59935" y="349300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1F2937"/>
                </a:solidFill>
                <a:latin typeface="Arial"/>
              </a:rPr>
              <a:t>v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552" y="2267712"/>
            <a:ext cx="3017520" cy="0"/>
          </a:xfrm>
          <a:prstGeom prst="line">
            <a:avLst/>
          </a:prstGeom>
          <a:ln w="25400">
            <a:solidFill>
              <a:srgbClr val="0F513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59935" y="217627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0F5132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0F5132"/>
                </a:solidFill>
                <a:latin typeface="Arial"/>
              </a:rPr>
              <a:t>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5910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176479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19385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11226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129844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C0392B"/>
                </a:solidFill>
                <a:latin typeface="Arial"/>
              </a:rPr>
              <a:t>Q</a:t>
            </a:r>
            <a:r>
              <a:rPr sz="792" b="1" i="0" baseline="-25000">
                <a:solidFill>
                  <a:srgbClr val="C0392B"/>
                </a:solidFill>
                <a:latin typeface="Arial"/>
              </a:rP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15910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176479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19385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211226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129844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6FB2"/>
                </a:solidFill>
                <a:latin typeface="Arial"/>
              </a:rPr>
              <a:t>Q</a:t>
            </a:r>
            <a:r>
              <a:rPr sz="719" b="1" i="0" baseline="-25000">
                <a:solidFill>
                  <a:srgbClr val="1F6FB2"/>
                </a:solidFill>
                <a:latin typeface="Arial"/>
              </a:rPr>
              <a:t>sc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23544" y="2615184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23544" y="2884932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23544" y="3154680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3544" y="3424428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23544" y="3694176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" y="306324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7A5195"/>
                </a:solidFill>
                <a:latin typeface="Arial"/>
              </a:rPr>
              <a:t>D</a:t>
            </a:r>
            <a:r>
              <a:rPr sz="719" b="1" i="0" baseline="-25000">
                <a:solidFill>
                  <a:srgbClr val="7A5195"/>
                </a:solidFill>
                <a:latin typeface="Arial"/>
              </a:rPr>
              <a:t>it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7552" y="2139696"/>
            <a:ext cx="914400" cy="0"/>
          </a:xfrm>
          <a:prstGeom prst="line">
            <a:avLst/>
          </a:prstGeom>
          <a:ln w="11430">
            <a:solidFill>
              <a:srgbClr val="D95F0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682496" y="2139696"/>
            <a:ext cx="0" cy="292607"/>
          </a:xfrm>
          <a:prstGeom prst="line">
            <a:avLst/>
          </a:prstGeom>
          <a:ln w="27940">
            <a:solidFill>
              <a:srgbClr val="D95F0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755648" y="219456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95F02"/>
                </a:solidFill>
                <a:latin typeface="Arial"/>
              </a:rPr>
              <a:t>qφ</a:t>
            </a:r>
            <a:r>
              <a:rPr sz="792" b="1" i="0" baseline="-25000">
                <a:solidFill>
                  <a:srgbClr val="D95F02"/>
                </a:solidFill>
                <a:latin typeface="Arial"/>
              </a:rPr>
              <a:t>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18304" y="914400"/>
            <a:ext cx="422452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846320" y="950976"/>
            <a:ext cx="39684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Negative film charge  →  inversion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1170432"/>
            <a:ext cx="39684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holes pile up at the surface;  φ</a:t>
            </a:r>
            <a:r>
              <a:rPr sz="684" b="0" i="0" baseline="-25000">
                <a:solidFill>
                  <a:srgbClr val="6B7280"/>
                </a:solidFill>
                <a:latin typeface="Arial"/>
              </a:rPr>
              <a:t>s</a:t>
            </a:r>
            <a:r>
              <a:rPr sz="950" b="0" i="0">
                <a:solidFill>
                  <a:srgbClr val="6B7280"/>
                </a:solidFill>
                <a:latin typeface="Arial"/>
              </a:rPr>
              <a:t> &lt; 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1463040"/>
            <a:ext cx="475488" cy="2395728"/>
          </a:xfrm>
          <a:prstGeom prst="rect">
            <a:avLst/>
          </a:prstGeom>
          <a:solidFill>
            <a:srgbClr val="F2C14E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5504688" y="1463040"/>
            <a:ext cx="914400" cy="2395728"/>
          </a:xfrm>
          <a:prstGeom prst="rect">
            <a:avLst/>
          </a:prstGeom>
          <a:solidFill>
            <a:srgbClr val="BBD3EE"/>
          </a:solidFill>
          <a:ln w="12700">
            <a:solidFill>
              <a:srgbClr val="BB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882896" y="3913632"/>
            <a:ext cx="7680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dielectric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04688" y="39136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space charge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1072" y="3913632"/>
            <a:ext cx="159105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neutral silicon (n-type)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6419088" y="2139696"/>
            <a:ext cx="2103120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5504688" y="1591055"/>
            <a:ext cx="914400" cy="548641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577072" y="2048255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1F2937"/>
                </a:solidFill>
                <a:latin typeface="Arial"/>
              </a:rPr>
              <a:t>c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6419088" y="2542032"/>
            <a:ext cx="2103120" cy="0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5504688" y="1993391"/>
            <a:ext cx="914400" cy="548641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577072" y="2450591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6B7280"/>
                </a:solidFill>
                <a:latin typeface="Arial"/>
              </a:rPr>
              <a:t>i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6419088" y="3584448"/>
            <a:ext cx="2103120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5504688" y="3035808"/>
            <a:ext cx="914400" cy="54864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577072" y="349300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1F2937"/>
                </a:solidFill>
                <a:latin typeface="Arial"/>
              </a:rPr>
              <a:t>v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504688" y="2267712"/>
            <a:ext cx="3017520" cy="0"/>
          </a:xfrm>
          <a:prstGeom prst="line">
            <a:avLst/>
          </a:prstGeom>
          <a:ln w="25400">
            <a:solidFill>
              <a:srgbClr val="0F513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577072" y="217627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0F5132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0F5132"/>
                </a:solidFill>
                <a:latin typeface="Arial"/>
              </a:rPr>
              <a:t>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48656" y="15910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48656" y="176479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48656" y="19385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48656" y="211226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10912" y="129844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F6FB2"/>
                </a:solidFill>
                <a:latin typeface="Arial"/>
              </a:rPr>
              <a:t>Q</a:t>
            </a:r>
            <a:r>
              <a:rPr sz="792" b="1" i="0" baseline="-25000">
                <a:solidFill>
                  <a:srgbClr val="1F6FB2"/>
                </a:solidFill>
                <a:latin typeface="Arial"/>
              </a:rPr>
              <a:t>f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71616" y="159105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71616" y="176479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71616" y="1938528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71616" y="211226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C0392B"/>
                </a:solidFill>
                <a:latin typeface="Arial"/>
              </a:rPr>
              <a:t>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88736" y="129844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  <a:latin typeface="Arial"/>
              </a:rPr>
              <a:t>Q</a:t>
            </a:r>
            <a:r>
              <a:rPr sz="719" b="1" i="0" baseline="-25000">
                <a:solidFill>
                  <a:srgbClr val="C0392B"/>
                </a:solidFill>
                <a:latin typeface="Arial"/>
              </a:rPr>
              <a:t>sc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440679" y="1773935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440679" y="2043684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440679" y="2313432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440679" y="2583179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5440679" y="2852927"/>
            <a:ext cx="128016" cy="0"/>
          </a:xfrm>
          <a:prstGeom prst="line">
            <a:avLst/>
          </a:prstGeom>
          <a:ln w="22860">
            <a:solidFill>
              <a:srgbClr val="7A519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40096" y="2221991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 i="0">
                <a:solidFill>
                  <a:srgbClr val="7A5195"/>
                </a:solidFill>
                <a:latin typeface="Arial"/>
              </a:rPr>
              <a:t>D</a:t>
            </a:r>
            <a:r>
              <a:rPr sz="719" b="1" i="0" baseline="-25000">
                <a:solidFill>
                  <a:srgbClr val="7A5195"/>
                </a:solidFill>
                <a:latin typeface="Arial"/>
              </a:rPr>
              <a:t>it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5504688" y="2139696"/>
            <a:ext cx="914400" cy="0"/>
          </a:xfrm>
          <a:prstGeom prst="line">
            <a:avLst/>
          </a:prstGeom>
          <a:ln w="11430">
            <a:solidFill>
              <a:srgbClr val="D95F0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6199631" y="1591055"/>
            <a:ext cx="0" cy="548641"/>
          </a:xfrm>
          <a:prstGeom prst="line">
            <a:avLst/>
          </a:prstGeom>
          <a:ln w="27940">
            <a:solidFill>
              <a:srgbClr val="D95F0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272783" y="1773936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95F02"/>
                </a:solidFill>
                <a:latin typeface="Arial"/>
              </a:rPr>
              <a:t>qφ</a:t>
            </a:r>
            <a:r>
              <a:rPr sz="792" b="1" i="0" baseline="-25000">
                <a:solidFill>
                  <a:srgbClr val="D95F02"/>
                </a:solidFill>
                <a:latin typeface="Arial"/>
              </a:rPr>
              <a:t>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Charge in the film is mirrored by charge in the silicon and in the interface states. Q</a:t>
            </a:r>
            <a:r>
              <a:rPr sz="792" b="0" i="1" baseline="-25000">
                <a:solidFill>
                  <a:srgbClr val="6B7280"/>
                </a:solidFill>
                <a:latin typeface="Arial"/>
              </a:rPr>
              <a:t>f</a:t>
            </a:r>
            <a:r>
              <a:rPr sz="1100" b="0" i="1">
                <a:solidFill>
                  <a:srgbClr val="6B7280"/>
                </a:solidFill>
                <a:latin typeface="Arial"/>
              </a:rPr>
              <a:t> + Q</a:t>
            </a:r>
            <a:r>
              <a:rPr sz="792" b="0" i="1" baseline="-25000">
                <a:solidFill>
                  <a:srgbClr val="6B7280"/>
                </a:solidFill>
                <a:latin typeface="Arial"/>
              </a:rPr>
              <a:t>sc</a:t>
            </a:r>
            <a:r>
              <a:rPr sz="1100" b="0" i="1">
                <a:solidFill>
                  <a:srgbClr val="6B7280"/>
                </a:solidFill>
                <a:latin typeface="Arial"/>
              </a:rPr>
              <a:t> + Q</a:t>
            </a:r>
            <a:r>
              <a:rPr sz="792" b="0" i="1" baseline="-25000">
                <a:solidFill>
                  <a:srgbClr val="6B7280"/>
                </a:solidFill>
                <a:latin typeface="Arial"/>
              </a:rPr>
              <a:t>it</a:t>
            </a:r>
            <a:r>
              <a:rPr sz="1100" b="0" i="1">
                <a:solidFill>
                  <a:srgbClr val="6B7280"/>
                </a:solidFill>
                <a:latin typeface="Arial"/>
              </a:rPr>
              <a:t> = 0 is what fixes φ</a:t>
            </a:r>
            <a:r>
              <a:rPr sz="792" b="0" i="1" baseline="-25000">
                <a:solidFill>
                  <a:srgbClr val="6B7280"/>
                </a:solidFill>
                <a:latin typeface="Arial"/>
              </a:rPr>
              <a:t>s</a:t>
            </a:r>
            <a:r>
              <a:rPr sz="1100" b="0" i="1">
                <a:solidFill>
                  <a:srgbClr val="6B728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Arial"/>
              </a:rPr>
              <a:t>Light flattens the bands — and the change in CPD is the SPV</a:t>
            </a:r>
          </a:p>
        </p:txBody>
      </p:sp>
      <p:sp>
        <p:nvSpPr>
          <p:cNvPr id="3" name="Rectangle 2"/>
          <p:cNvSpPr/>
          <p:nvPr/>
        </p:nvSpPr>
        <p:spPr>
          <a:xfrm>
            <a:off x="201168" y="914400"/>
            <a:ext cx="4224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9184" y="950976"/>
            <a:ext cx="39684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Dark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1170432"/>
            <a:ext cx="39684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the bands are bent by the film charge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481328"/>
            <a:ext cx="438912" cy="2359152"/>
          </a:xfrm>
          <a:prstGeom prst="rect">
            <a:avLst/>
          </a:prstGeom>
          <a:solidFill>
            <a:srgbClr val="F2C14E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50976" y="1481328"/>
            <a:ext cx="1005840" cy="2359152"/>
          </a:xfrm>
          <a:prstGeom prst="rect">
            <a:avLst/>
          </a:prstGeom>
          <a:solidFill>
            <a:srgbClr val="BBD3EE"/>
          </a:solidFill>
          <a:ln w="12700">
            <a:solidFill>
              <a:srgbClr val="BB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94944" y="16093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7830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9568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130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956816" y="2194560"/>
            <a:ext cx="2048256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50976" y="1627631"/>
            <a:ext cx="1005840" cy="566929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59935" y="210312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1F2937"/>
                </a:solidFill>
                <a:latin typeface="Arial"/>
              </a:rPr>
              <a:t>c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956816" y="2907792"/>
            <a:ext cx="2048256" cy="0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950976" y="2340864"/>
            <a:ext cx="1005840" cy="566928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59935" y="281635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6B7280"/>
                </a:solidFill>
                <a:latin typeface="Arial"/>
              </a:rPr>
              <a:t>i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956816" y="3621024"/>
            <a:ext cx="2048256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950976" y="3054096"/>
            <a:ext cx="1005840" cy="566928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59935" y="3529584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1F2937"/>
                </a:solidFill>
                <a:latin typeface="Arial"/>
              </a:rPr>
              <a:t>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50976" y="2487168"/>
            <a:ext cx="3054096" cy="0"/>
          </a:xfrm>
          <a:prstGeom prst="line">
            <a:avLst/>
          </a:prstGeom>
          <a:ln w="25400">
            <a:solidFill>
              <a:srgbClr val="0F513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59935" y="2395728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0F5132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0F5132"/>
                </a:solidFill>
                <a:latin typeface="Arial"/>
              </a:rPr>
              <a:t>F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0976" y="2194560"/>
            <a:ext cx="1005840" cy="0"/>
          </a:xfrm>
          <a:prstGeom prst="line">
            <a:avLst/>
          </a:prstGeom>
          <a:ln w="11430">
            <a:solidFill>
              <a:srgbClr val="D95F0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682496" y="1627631"/>
            <a:ext cx="0" cy="566929"/>
          </a:xfrm>
          <a:prstGeom prst="line">
            <a:avLst/>
          </a:prstGeom>
          <a:ln w="27940">
            <a:solidFill>
              <a:srgbClr val="D95F0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755648" y="1819655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95F02"/>
                </a:solidFill>
                <a:latin typeface="Arial"/>
              </a:rPr>
              <a:t>qφ</a:t>
            </a:r>
            <a:r>
              <a:rPr sz="792" b="1" i="0" baseline="-25000">
                <a:solidFill>
                  <a:srgbClr val="D95F02"/>
                </a:solidFill>
                <a:latin typeface="Arial"/>
              </a:rPr>
              <a:t>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87705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dielectric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73936" y="38770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n-type silicon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18304" y="914400"/>
            <a:ext cx="422452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46320" y="950976"/>
            <a:ext cx="39684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Illuminated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1170432"/>
            <a:ext cx="39684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injected carriers screen the charge; the bands flatten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1481328"/>
            <a:ext cx="438912" cy="2359152"/>
          </a:xfrm>
          <a:prstGeom prst="rect">
            <a:avLst/>
          </a:prstGeom>
          <a:solidFill>
            <a:srgbClr val="F2C14E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468112" y="1481328"/>
            <a:ext cx="1005840" cy="2359152"/>
          </a:xfrm>
          <a:prstGeom prst="rect">
            <a:avLst/>
          </a:prstGeom>
          <a:solidFill>
            <a:srgbClr val="BBD3EE"/>
          </a:solidFill>
          <a:ln w="12700">
            <a:solidFill>
              <a:srgbClr val="BB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212080" y="1609344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1783080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1956816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2130552"/>
            <a:ext cx="1645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6FB2"/>
                </a:solidFill>
                <a:latin typeface="Arial"/>
              </a:rPr>
              <a:t>−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6473952" y="2194560"/>
            <a:ext cx="2048256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5468112" y="2066543"/>
            <a:ext cx="1005840" cy="128017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577072" y="2103120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1F2937"/>
                </a:solidFill>
                <a:latin typeface="Arial"/>
              </a:rPr>
              <a:t>c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473952" y="2907792"/>
            <a:ext cx="2048256" cy="0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5468112" y="2779776"/>
            <a:ext cx="1005840" cy="128016"/>
          </a:xfrm>
          <a:prstGeom prst="line">
            <a:avLst/>
          </a:prstGeom>
          <a:ln w="1270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577072" y="2816352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6B7280"/>
                </a:solidFill>
                <a:latin typeface="Arial"/>
              </a:rPr>
              <a:t>i</a:t>
            </a:r>
          </a:p>
        </p:txBody>
      </p:sp>
      <p:cxnSp>
        <p:nvCxnSpPr>
          <p:cNvPr id="43" name="Connector 42"/>
          <p:cNvCxnSpPr/>
          <p:nvPr/>
        </p:nvCxnSpPr>
        <p:spPr>
          <a:xfrm flipH="1">
            <a:off x="6473952" y="3621024"/>
            <a:ext cx="2048256" cy="0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5468112" y="3493008"/>
            <a:ext cx="1005840" cy="128016"/>
          </a:xfrm>
          <a:prstGeom prst="line">
            <a:avLst/>
          </a:prstGeom>
          <a:ln w="25400">
            <a:solidFill>
              <a:srgbClr val="1F29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577072" y="3529584"/>
            <a:ext cx="31089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F2937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1F2937"/>
                </a:solidFill>
                <a:latin typeface="Arial"/>
              </a:rPr>
              <a:t>v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68112" y="2432304"/>
            <a:ext cx="3054096" cy="0"/>
          </a:xfrm>
          <a:prstGeom prst="line">
            <a:avLst/>
          </a:prstGeom>
          <a:ln w="22860">
            <a:solidFill>
              <a:srgbClr val="1F6F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468112" y="3200400"/>
            <a:ext cx="3054096" cy="0"/>
          </a:xfrm>
          <a:prstGeom prst="line">
            <a:avLst/>
          </a:prstGeom>
          <a:ln w="22860">
            <a:solidFill>
              <a:srgbClr val="C0392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577072" y="2340864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1F6FB2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1F6FB2"/>
                </a:solidFill>
                <a:latin typeface="Arial"/>
              </a:rPr>
              <a:t>Fn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77072" y="3108960"/>
            <a:ext cx="38404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C0392B"/>
                </a:solidFill>
                <a:latin typeface="Arial"/>
              </a:rPr>
              <a:t>E</a:t>
            </a:r>
            <a:r>
              <a:rPr sz="719" b="0" i="1" baseline="-25000">
                <a:solidFill>
                  <a:srgbClr val="C0392B"/>
                </a:solidFill>
                <a:latin typeface="Arial"/>
              </a:rPr>
              <a:t>Fp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6858000" y="2249424"/>
            <a:ext cx="0" cy="1316736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296912" y="2249424"/>
            <a:ext cx="0" cy="1316736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735824" y="2249424"/>
            <a:ext cx="0" cy="1316736"/>
          </a:xfrm>
          <a:prstGeom prst="line">
            <a:avLst/>
          </a:prstGeom>
          <a:ln w="254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729984" y="1920240"/>
            <a:ext cx="3657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1">
                <a:solidFill>
                  <a:srgbClr val="E8A33D"/>
                </a:solidFill>
                <a:latin typeface="Arial"/>
              </a:rPr>
              <a:t>hν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68112" y="2194560"/>
            <a:ext cx="1005840" cy="0"/>
          </a:xfrm>
          <a:prstGeom prst="line">
            <a:avLst/>
          </a:prstGeom>
          <a:ln w="11430">
            <a:solidFill>
              <a:srgbClr val="D95F0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199632" y="2066543"/>
            <a:ext cx="0" cy="128017"/>
          </a:xfrm>
          <a:prstGeom prst="line">
            <a:avLst/>
          </a:prstGeom>
          <a:ln w="27940">
            <a:solidFill>
              <a:srgbClr val="D95F02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272784" y="20391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95F02"/>
                </a:solidFill>
                <a:latin typeface="Arial"/>
              </a:rPr>
              <a:t>qφ</a:t>
            </a:r>
            <a:r>
              <a:rPr sz="792" b="1" i="0" baseline="-25000">
                <a:solidFill>
                  <a:srgbClr val="D95F02"/>
                </a:solidFill>
                <a:latin typeface="Arial"/>
              </a:rPr>
              <a:t>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82896" y="3877056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dielectric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91072" y="387705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Arial"/>
              </a:rPr>
              <a:t>n-type silicon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4480560" y="2395728"/>
            <a:ext cx="274320" cy="0"/>
          </a:xfrm>
          <a:prstGeom prst="line">
            <a:avLst/>
          </a:prstGeom>
          <a:ln w="3302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201168" y="4187952"/>
            <a:ext cx="87416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D95F02"/>
                </a:solidFill>
                <a:latin typeface="Arial"/>
              </a:rPr>
              <a:t>SPV  =  CPD</a:t>
            </a:r>
            <a:r>
              <a:rPr sz="1080" b="1" i="0" baseline="-25000">
                <a:solidFill>
                  <a:srgbClr val="D95F02"/>
                </a:solidFill>
                <a:latin typeface="Arial"/>
              </a:rPr>
              <a:t>dark</a:t>
            </a:r>
            <a:r>
              <a:rPr sz="1500" b="1" i="0">
                <a:solidFill>
                  <a:srgbClr val="D95F02"/>
                </a:solidFill>
                <a:latin typeface="Arial"/>
              </a:rPr>
              <a:t> − CPD</a:t>
            </a:r>
            <a:r>
              <a:rPr sz="1080" b="1" i="0" baseline="-25000">
                <a:solidFill>
                  <a:srgbClr val="D95F02"/>
                </a:solidFill>
                <a:latin typeface="Arial"/>
              </a:rPr>
              <a:t>light</a:t>
            </a:r>
            <a:r>
              <a:rPr sz="1500" b="1" i="0">
                <a:solidFill>
                  <a:srgbClr val="D95F02"/>
                </a:solidFill>
                <a:latin typeface="Arial"/>
              </a:rPr>
              <a:t>  =  φ</a:t>
            </a:r>
            <a:r>
              <a:rPr sz="1080" b="1" i="0" baseline="-25000">
                <a:solidFill>
                  <a:srgbClr val="D95F02"/>
                </a:solidFill>
                <a:latin typeface="Arial"/>
              </a:rPr>
              <a:t>s</a:t>
            </a:r>
            <a:r>
              <a:rPr sz="1500" b="1" i="0">
                <a:solidFill>
                  <a:srgbClr val="D95F02"/>
                </a:solidFill>
                <a:latin typeface="Arial"/>
              </a:rPr>
              <a:t>(light) − φ</a:t>
            </a:r>
            <a:r>
              <a:rPr sz="1080" b="1" i="0" baseline="-25000">
                <a:solidFill>
                  <a:srgbClr val="D95F02"/>
                </a:solidFill>
                <a:latin typeface="Arial"/>
              </a:rPr>
              <a:t>s</a:t>
            </a:r>
            <a:r>
              <a:rPr sz="1500" b="1" i="0">
                <a:solidFill>
                  <a:srgbClr val="D95F02"/>
                </a:solidFill>
                <a:latin typeface="Arial"/>
              </a:rPr>
              <a:t>(dark)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The probe work function, the calibration and the dielectric term are identical in the two readings, so they cancel. Only the band bending survives.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Arial"/>
              </a:rPr>
              <a:t>A macro-scale Kelvin probe / SPV bench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5349240" cy="3246120"/>
          </a:xfrm>
          <a:prstGeom prst="rect">
            <a:avLst/>
          </a:prstGeom>
          <a:solidFill>
            <a:srgbClr val="FBFCFD"/>
          </a:solidFill>
          <a:ln w="2032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3913632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6B7280"/>
                </a:solidFill>
                <a:latin typeface="Arial"/>
              </a:rPr>
              <a:t>earthed enclosure  (electrical screening + darkness)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331720" y="1234440"/>
            <a:ext cx="1600200" cy="475488"/>
          </a:xfrm>
          <a:prstGeom prst="rect">
            <a:avLst/>
          </a:prstGeom>
          <a:solidFill>
            <a:srgbClr val="E8EDF2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2331720" y="1298448"/>
            <a:ext cx="16002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1F2937"/>
                </a:solidFill>
                <a:latin typeface="Arial"/>
              </a:rPr>
              <a:t>vibrating head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27248" y="1709928"/>
            <a:ext cx="0" cy="402336"/>
          </a:xfrm>
          <a:prstGeom prst="line">
            <a:avLst/>
          </a:prstGeom>
          <a:ln w="20320">
            <a:solidFill>
              <a:srgbClr val="3A4A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651760" y="2112264"/>
            <a:ext cx="960120" cy="182880"/>
          </a:xfrm>
          <a:prstGeom prst="rect">
            <a:avLst/>
          </a:prstGeom>
          <a:solidFill>
            <a:srgbClr val="595959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Connector 8"/>
          <p:cNvCxnSpPr/>
          <p:nvPr/>
        </p:nvCxnSpPr>
        <p:spPr>
          <a:xfrm>
            <a:off x="3767328" y="1874519"/>
            <a:ext cx="0" cy="310896"/>
          </a:xfrm>
          <a:prstGeom prst="line">
            <a:avLst/>
          </a:prstGeom>
          <a:ln w="27940">
            <a:solidFill>
              <a:srgbClr val="E8A33D"/>
            </a:solidFill>
            <a:tailEnd type="triangle" w="med" len="med"/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986784" y="221284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Arial"/>
              </a:rPr>
              <a:t>d</a:t>
            </a:r>
            <a:r>
              <a:rPr sz="684" b="0" i="1" baseline="-25000">
                <a:solidFill>
                  <a:srgbClr val="6B7280"/>
                </a:solidFill>
                <a:latin typeface="Arial"/>
              </a:rPr>
              <a:t>0</a:t>
            </a:r>
            <a:r>
              <a:rPr sz="950" b="0" i="1">
                <a:solidFill>
                  <a:srgbClr val="6B7280"/>
                </a:solidFill>
                <a:latin typeface="Arial"/>
              </a:rPr>
              <a:t> ≈ 0.1–1 mm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7320" y="2514600"/>
            <a:ext cx="2468880" cy="274320"/>
          </a:xfrm>
          <a:prstGeom prst="rect">
            <a:avLst/>
          </a:prstGeom>
          <a:solidFill>
            <a:srgbClr val="DCE9F7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417320" y="2788920"/>
            <a:ext cx="3429000" cy="201168"/>
          </a:xfrm>
          <a:prstGeom prst="rect">
            <a:avLst/>
          </a:prstGeom>
          <a:solidFill>
            <a:srgbClr val="8C8C8C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17320" y="2542032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Arial"/>
              </a:rPr>
              <a:t>sample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41648" y="2514600"/>
            <a:ext cx="804672" cy="274320"/>
          </a:xfrm>
          <a:prstGeom prst="rect">
            <a:avLst/>
          </a:prstGeom>
          <a:solidFill>
            <a:srgbClr val="F5D97B"/>
          </a:solidFill>
          <a:ln w="12700">
            <a:solidFill>
              <a:srgbClr val="3A4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041648" y="2542032"/>
            <a:ext cx="8046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F2937"/>
                </a:solidFill>
                <a:latin typeface="Arial"/>
              </a:rPr>
              <a:t>ref.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0632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 i="1">
                <a:solidFill>
                  <a:srgbClr val="6B7280"/>
                </a:solidFill>
                <a:latin typeface="Arial"/>
              </a:rPr>
              <a:t>reference sample (Au / HOPG),</a:t>
            </a:r>
          </a:p>
          <a:p>
            <a:pPr algn="ctr"/>
            <a:r>
              <a:rPr sz="950" b="0" i="1">
                <a:solidFill>
                  <a:srgbClr val="6B7280"/>
                </a:solidFill>
                <a:latin typeface="Arial"/>
              </a:rPr>
              <a:t>measured before and 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788920"/>
            <a:ext cx="34290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earthed x–y stage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8680" y="1783080"/>
            <a:ext cx="1417320" cy="658368"/>
          </a:xfrm>
          <a:prstGeom prst="line">
            <a:avLst/>
          </a:prstGeom>
          <a:ln w="3810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66928" y="1417320"/>
            <a:ext cx="685800" cy="384048"/>
          </a:xfrm>
          <a:prstGeom prst="rect">
            <a:avLst/>
          </a:prstGeom>
          <a:solidFill>
            <a:srgbClr val="FDF0DC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66928" y="1444752"/>
            <a:ext cx="6858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E8A33D"/>
                </a:solidFill>
                <a:latin typeface="Arial"/>
              </a:rPr>
              <a:t>fibre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960120"/>
            <a:ext cx="26060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91072" y="1042415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Arial"/>
              </a:rPr>
              <a:t>control electronics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1280160"/>
            <a:ext cx="237744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Arial"/>
              </a:rPr>
              <a:t>• vibration drive, ω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Arial"/>
              </a:rPr>
              <a:t>• backing voltage V</a:t>
            </a:r>
            <a:r>
              <a:rPr sz="719" b="0" i="0" baseline="-25000">
                <a:solidFill>
                  <a:srgbClr val="1F2937"/>
                </a:solidFill>
                <a:latin typeface="Arial"/>
              </a:rPr>
              <a:t>b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Arial"/>
              </a:rPr>
              <a:t>• preamp + off-null fit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Arial"/>
              </a:rPr>
              <a:t>• spacing regulation from 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377440"/>
            <a:ext cx="260604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291072" y="2459736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1F2937"/>
                </a:solidFill>
                <a:latin typeface="Arial"/>
              </a:rPr>
              <a:t>light 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1072" y="2697480"/>
            <a:ext cx="23774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0">
                <a:solidFill>
                  <a:srgbClr val="1F2937"/>
                </a:solidFill>
                <a:latin typeface="Arial"/>
              </a:rPr>
              <a:t>• halogen or LED, shuttered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Arial"/>
              </a:rPr>
              <a:t>• intensity swept for saturation</a:t>
            </a:r>
          </a:p>
          <a:p>
            <a:pPr algn="l"/>
            <a:r>
              <a:rPr sz="1000" b="0" i="0">
                <a:solidFill>
                  <a:srgbClr val="1F2937"/>
                </a:solidFill>
                <a:latin typeface="Arial"/>
              </a:rPr>
              <a:t>• wavelength swept for L</a:t>
            </a:r>
            <a:r>
              <a:rPr sz="719" b="0" i="0" baseline="-25000">
                <a:solidFill>
                  <a:srgbClr val="1F2937"/>
                </a:solidFill>
                <a:latin typeface="Arial"/>
              </a:rPr>
              <a:t>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870448" y="1572768"/>
            <a:ext cx="274320" cy="0"/>
          </a:xfrm>
          <a:prstGeom prst="line">
            <a:avLst/>
          </a:prstGeom>
          <a:ln w="17780">
            <a:solidFill>
              <a:srgbClr val="3A4A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870448" y="2788920"/>
            <a:ext cx="274320" cy="0"/>
          </a:xfrm>
          <a:prstGeom prst="line">
            <a:avLst/>
          </a:prstGeom>
          <a:ln w="17780">
            <a:solidFill>
              <a:srgbClr val="E8A3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6172200" y="3474720"/>
            <a:ext cx="2606040" cy="731520"/>
          </a:xfrm>
          <a:prstGeom prst="rect">
            <a:avLst/>
          </a:prstGeom>
          <a:solidFill>
            <a:srgbClr val="FFF6E5"/>
          </a:solidFill>
          <a:ln w="12700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91072" y="3529584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F2937"/>
                </a:solidFill>
                <a:latin typeface="Arial"/>
              </a:rPr>
              <a:t>outputs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91072" y="37490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D95F02"/>
                </a:solidFill>
                <a:latin typeface="Arial"/>
              </a:rPr>
              <a:t>CPD</a:t>
            </a:r>
            <a:r>
              <a:rPr sz="827" b="1" i="0" baseline="-25000">
                <a:solidFill>
                  <a:srgbClr val="D95F02"/>
                </a:solidFill>
                <a:latin typeface="Arial"/>
              </a:rPr>
              <a:t>dark</a:t>
            </a:r>
            <a:r>
              <a:rPr sz="1150" b="1" i="0">
                <a:solidFill>
                  <a:srgbClr val="D95F02"/>
                </a:solidFill>
                <a:latin typeface="Arial"/>
              </a:rPr>
              <a:t> ,  CPD</a:t>
            </a:r>
            <a:r>
              <a:rPr sz="827" b="1" i="0" baseline="-25000">
                <a:solidFill>
                  <a:srgbClr val="D95F02"/>
                </a:solidFill>
                <a:latin typeface="Arial"/>
              </a:rPr>
              <a:t>light</a:t>
            </a:r>
            <a:r>
              <a:rPr sz="1150" b="1" i="0">
                <a:solidFill>
                  <a:srgbClr val="D95F02"/>
                </a:solidFill>
                <a:latin typeface="Arial"/>
              </a:rPr>
              <a:t>  →  SPV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590288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Nothing touches the sample. The probe averages over its own diameter, typically 2 mm, so what it reports is an area average.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F2937"/>
                </a:solidFill>
                <a:latin typeface="Arial"/>
              </a:rPr>
              <a:t>How this deck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68680"/>
            <a:ext cx="4069080" cy="1874519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66928" y="969264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1  ·  Edit, then export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3794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Arial"/>
              </a:rPr>
              <a:t>Edit any slide in this deck, then export every slide as JPEG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Arial"/>
              </a:rPr>
              <a:t>at about 150 dpi  (File → Export → JPEG → All slides).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92224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Simpler: run this in the KPSPV folder — it renders every slide</a:t>
            </a:r>
          </a:p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and copies the JPEGs to both places for you: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9424"/>
            <a:ext cx="3749039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0F5132"/>
                </a:solidFill>
                <a:latin typeface="Consolas"/>
              </a:rPr>
              <a:t>./export_figures.sh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868680"/>
            <a:ext cx="4069080" cy="1874519"/>
          </a:xfrm>
          <a:prstGeom prst="rect">
            <a:avLst/>
          </a:prstGeom>
          <a:solidFill>
            <a:srgbClr val="F4F6F8"/>
          </a:solidFill>
          <a:ln w="12700">
            <a:solidFill>
              <a:srgbClr val="C7C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818888" y="969264"/>
            <a:ext cx="374903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2  ·  Save each JPEG in BOTH folders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1225296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1F2937"/>
                </a:solidFill>
                <a:latin typeface="Arial"/>
              </a:rPr>
              <a:t>Same file name in each. Miss the second one and the website</a:t>
            </a:r>
          </a:p>
          <a:p>
            <a:pPr algn="l"/>
            <a:r>
              <a:rPr sz="1050" b="0" i="0">
                <a:solidFill>
                  <a:srgbClr val="1F2937"/>
                </a:solidFill>
                <a:latin typeface="Arial"/>
              </a:rPr>
              <a:t>keeps showing the old picture.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8888" y="1719072"/>
            <a:ext cx="3749039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  <a:latin typeface="Consolas"/>
              </a:rPr>
              <a:t>KPSPV/figures/&lt;name&gt;.jpg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19385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used by the Jupyter notebook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8888" y="2194560"/>
            <a:ext cx="3749039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1">
                <a:solidFill>
                  <a:srgbClr val="1F2937"/>
                </a:solidFill>
                <a:latin typeface="Consolas"/>
              </a:rPr>
              <a:t>docs/assets/&lt;name&gt;.jpg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8888" y="239572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  <a:latin typeface="Arial"/>
              </a:rPr>
              <a:t>used by the documentation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926080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1F2937"/>
                </a:solidFill>
                <a:latin typeface="Arial"/>
              </a:rPr>
              <a:t>Slide → file 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23697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6928" y="323697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Slide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264408"/>
            <a:ext cx="4114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2937"/>
                </a:solidFill>
                <a:latin typeface="Consolas"/>
              </a:rPr>
              <a:t>fig_kpspv_bands_cpd.jpg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51129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Slide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538727"/>
            <a:ext cx="4114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2937"/>
                </a:solidFill>
                <a:latin typeface="Consolas"/>
              </a:rPr>
              <a:t>fig_kpspv_instrument.jpg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785615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66928" y="378561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Slide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813048"/>
            <a:ext cx="4114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2937"/>
                </a:solidFill>
                <a:latin typeface="Consolas"/>
              </a:rPr>
              <a:t>fig_kpspv_surface_bands.jpg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405993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Slide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87368"/>
            <a:ext cx="4114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2937"/>
                </a:solidFill>
                <a:latin typeface="Consolas"/>
              </a:rPr>
              <a:t>fig_kpspv_spv_bands.jpg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334256"/>
            <a:ext cx="8321040" cy="2743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43342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Arial"/>
              </a:rPr>
              <a:t>Slide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361688"/>
            <a:ext cx="41148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1F2937"/>
                </a:solidFill>
                <a:latin typeface="Consolas"/>
              </a:rPr>
              <a:t>fig_kpspv_setup.jpg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645152"/>
            <a:ext cx="8321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This .pptx is deliberately not tracked by git — it is your local working copy. The exported .jpg files are what the repository and the website use, so those are the ones to commit.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