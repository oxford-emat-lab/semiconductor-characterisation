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two-probe measurement actually measures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0" y="2377440"/>
            <a:ext cx="6400800" cy="411480"/>
          </a:xfrm>
          <a:prstGeom prst="rect">
            <a:avLst/>
          </a:prstGeom>
          <a:solidFill>
            <a:srgbClr val="F0EDE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08760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insulating substrate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doped semiconductor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389888"/>
            <a:ext cx="118872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389888"/>
            <a:ext cx="118872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042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contact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042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contact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38528" y="1389888"/>
            <a:ext cx="0" cy="548640"/>
          </a:xfrm>
          <a:prstGeom prst="line">
            <a:avLst/>
          </a:prstGeom>
          <a:noFill/>
          <a:ln w="28575">
            <a:solidFill>
              <a:srgbClr val="1B9E7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38528" y="1938528"/>
            <a:ext cx="5266944" cy="0"/>
          </a:xfrm>
          <a:prstGeom prst="line">
            <a:avLst/>
          </a:prstGeom>
          <a:noFill/>
          <a:ln w="28575">
            <a:solidFill>
              <a:srgbClr val="1B9E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205472" y="1389888"/>
            <a:ext cx="0" cy="548640"/>
          </a:xfrm>
          <a:prstGeom prst="line">
            <a:avLst/>
          </a:prstGeom>
          <a:noFill/>
          <a:ln w="28575">
            <a:solidFill>
              <a:srgbClr val="1B9E77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8288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3063240"/>
            <a:ext cx="8229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94560" y="3063240"/>
            <a:ext cx="1051560" cy="457200"/>
          </a:xfrm>
          <a:prstGeom prst="rect">
            <a:avLst/>
          </a:prstGeom>
          <a:solidFill>
            <a:srgbClr val="D95F0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3063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3063240"/>
            <a:ext cx="2651760" cy="457200"/>
          </a:xfrm>
          <a:prstGeom prst="rect">
            <a:avLst/>
          </a:prstGeom>
          <a:solidFill>
            <a:srgbClr val="A8C4E0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97880" y="3063240"/>
            <a:ext cx="1051560" cy="457200"/>
          </a:xfrm>
          <a:prstGeom prst="rect">
            <a:avLst/>
          </a:prstGeom>
          <a:solidFill>
            <a:srgbClr val="D95F0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063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3063240"/>
            <a:ext cx="8229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3822192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822192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904488"/>
            <a:ext cx="64008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371600" y="357530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39593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 </a:t>
            </a:r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2</a:t>
            </a:r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2</a:t>
            </a:r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</a:t>
            </a:r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43616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metal term is negligible; the two contact terms are what TLM is built to isolate.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TLM test structure (top view)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23444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doped layer, sheet resistance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7269480" cy="132588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563624"/>
            <a:ext cx="502920" cy="112471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1563624"/>
            <a:ext cx="502920" cy="112471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563624"/>
            <a:ext cx="502920" cy="112471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70248" y="1563624"/>
            <a:ext cx="502920" cy="112471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33288" y="1563624"/>
            <a:ext cx="502920" cy="112471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07808" y="1563624"/>
            <a:ext cx="502920" cy="112471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563624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688336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1563624"/>
            <a:ext cx="0" cy="11247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74320" y="18882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" y="214426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width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07808" y="1161288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0728" y="1161288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808" y="1243584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607808" y="9144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79208" y="8778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65960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333756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965960" y="300837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60220" y="3429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97480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3337560"/>
            <a:ext cx="411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697480" y="30083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83180" y="3429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11880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0248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3337560"/>
            <a:ext cx="65836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611880" y="30083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21024" y="3429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73168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33288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3337560"/>
            <a:ext cx="9601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773168" y="30083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3188" y="3429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36208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07808" y="3255264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36208" y="3337560"/>
            <a:ext cx="1371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236208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01968" y="3429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39776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neighbouring pair gives one resistance at one spacing. Same sheet, same contacts — only L changes.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crowding and the transfer length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69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edge of the contact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344168" y="1325880"/>
            <a:ext cx="896112" cy="292608"/>
          </a:xfrm>
          <a:prstGeom prst="line">
            <a:avLst/>
          </a:prstGeom>
          <a:noFill/>
          <a:ln w="12700">
            <a:solidFill>
              <a:srgbClr val="D95F0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240280" y="1709928"/>
            <a:ext cx="2286000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contact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4114800" cy="77724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doped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368296"/>
            <a:ext cx="1234440" cy="0"/>
          </a:xfrm>
          <a:prstGeom prst="line">
            <a:avLst/>
          </a:prstGeom>
          <a:noFill/>
          <a:ln w="28575">
            <a:solidFill>
              <a:srgbClr val="1B9E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368296"/>
            <a:ext cx="384048" cy="0"/>
          </a:xfrm>
          <a:prstGeom prst="line">
            <a:avLst/>
          </a:prstGeom>
          <a:noFill/>
          <a:ln w="28575">
            <a:solidFill>
              <a:srgbClr val="1B9E7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313432" y="1965960"/>
            <a:ext cx="0" cy="377779"/>
          </a:xfrm>
          <a:prstGeom prst="line">
            <a:avLst/>
          </a:prstGeom>
          <a:noFill/>
          <a:ln w="25400">
            <a:solidFill>
              <a:srgbClr val="D95F0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514600" y="1965960"/>
            <a:ext cx="0" cy="268306"/>
          </a:xfrm>
          <a:prstGeom prst="line">
            <a:avLst/>
          </a:prstGeom>
          <a:noFill/>
          <a:ln w="25400">
            <a:solidFill>
              <a:srgbClr val="D95F0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2752344" y="1965960"/>
            <a:ext cx="0" cy="184458"/>
          </a:xfrm>
          <a:prstGeom prst="line">
            <a:avLst/>
          </a:prstGeom>
          <a:noFill/>
          <a:ln w="25400">
            <a:solidFill>
              <a:srgbClr val="D95F0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3063240" y="1965960"/>
            <a:ext cx="0" cy="120489"/>
          </a:xfrm>
          <a:prstGeom prst="line">
            <a:avLst/>
          </a:prstGeom>
          <a:noFill/>
          <a:ln w="25400">
            <a:solidFill>
              <a:srgbClr val="D95F0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3447288" y="1965960"/>
            <a:ext cx="0" cy="80560"/>
          </a:xfrm>
          <a:prstGeom prst="line">
            <a:avLst/>
          </a:prstGeom>
          <a:noFill/>
          <a:ln w="25400">
            <a:solidFill>
              <a:srgbClr val="D95F0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3904488" y="1965960"/>
            <a:ext cx="0" cy="59757"/>
          </a:xfrm>
          <a:prstGeom prst="line">
            <a:avLst/>
          </a:prstGeom>
          <a:noFill/>
          <a:ln w="25400">
            <a:solidFill>
              <a:srgbClr val="D95F0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40280" y="3008376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008376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3090672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240280" y="2761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1638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5295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current has crossed within one transfer length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2984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still flowing in the semiconductor, </a:t>
            </a:r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645920"/>
            <a:ext cx="278892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3246120"/>
            <a:ext cx="278892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1645920"/>
            <a:ext cx="0" cy="160020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1645920"/>
            <a:ext cx="107266" cy="256666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13706" y="1902586"/>
            <a:ext cx="107266" cy="215498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0972" y="2118084"/>
            <a:ext cx="107266" cy="180933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8238" y="2299017"/>
            <a:ext cx="107266" cy="151912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5505" y="2450928"/>
            <a:ext cx="107266" cy="127546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2771" y="2578474"/>
            <a:ext cx="107266" cy="107088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50037" y="2685562"/>
            <a:ext cx="107266" cy="89911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57303" y="2775473"/>
            <a:ext cx="107266" cy="75490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64569" y="2850963"/>
            <a:ext cx="107266" cy="63382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71835" y="2914345"/>
            <a:ext cx="107266" cy="53215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9102" y="2967560"/>
            <a:ext cx="107266" cy="44680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6368" y="3012240"/>
            <a:ext cx="107266" cy="37513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93634" y="3049754"/>
            <a:ext cx="107266" cy="31496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00900" y="3081250"/>
            <a:ext cx="107266" cy="26445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08166" y="3107695"/>
            <a:ext cx="107266" cy="22203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15432" y="3129898"/>
            <a:ext cx="107266" cy="18642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22698" y="3148539"/>
            <a:ext cx="107266" cy="15652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9965" y="3164191"/>
            <a:ext cx="107266" cy="13141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37231" y="3177332"/>
            <a:ext cx="107266" cy="11033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44497" y="3188365"/>
            <a:ext cx="107266" cy="9264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51763" y="3197629"/>
            <a:ext cx="107266" cy="7778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59029" y="3205407"/>
            <a:ext cx="107266" cy="6530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66295" y="3211937"/>
            <a:ext cx="107266" cy="5483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3562" y="3217420"/>
            <a:ext cx="107266" cy="4603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80828" y="3222023"/>
            <a:ext cx="107266" cy="3865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88094" y="3225888"/>
            <a:ext cx="107266" cy="3245"/>
          </a:xfrm>
          <a:prstGeom prst="line">
            <a:avLst/>
          </a:prstGeom>
          <a:noFill/>
          <a:ln w="28575">
            <a:solidFill>
              <a:srgbClr val="D95F0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20002" y="2657439"/>
            <a:ext cx="0" cy="588681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5981090" y="330098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L</a:t>
            </a:r>
            <a:pPr algn="ctr" indent="0" marL="0">
              <a:buNone/>
            </a:pPr>
            <a:r>
              <a:rPr lang="en-US" sz="10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8368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1300" i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(x) = </a:t>
            </a:r>
            <a:pPr indent="0" marL="0">
              <a:buNone/>
            </a:pPr>
            <a:r>
              <a:rPr lang="en-US" sz="1300" i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1300" i="1" baseline="-400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exp( –x / </a:t>
            </a:r>
            <a:pPr indent="0" marL="0">
              <a:buNone/>
            </a:pPr>
            <a:r>
              <a:rPr lang="en-US" sz="1300" i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indent="0" marL="0">
              <a:buNone/>
            </a:pPr>
            <a:r>
              <a:rPr lang="en-US" sz="1300" i="1" baseline="-400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806440" y="3575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into the contact, x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√( ρ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R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lateral transport in the sheet competing with vertical transport across the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four parameters off one straight 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88720" y="3703320"/>
            <a:ext cx="3566160" cy="0"/>
          </a:xfrm>
          <a:prstGeom prst="line">
            <a:avLst/>
          </a:prstGeom>
          <a:noFill/>
          <a:ln w="19050">
            <a:solidFill>
              <a:srgbClr val="3A4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3977640"/>
            <a:ext cx="0" cy="-2514600"/>
          </a:xfrm>
          <a:prstGeom prst="line">
            <a:avLst/>
          </a:prstGeom>
          <a:noFill/>
          <a:ln w="19050">
            <a:solidFill>
              <a:srgbClr val="3A4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4087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spacing, </a:t>
            </a:r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" y="1645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resistance, </a:t>
            </a:r>
            <a:endParaRPr lang="en-US" sz="1200" dirty="0"/>
          </a:p>
          <a:p>
            <a:pPr algn="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3291840" cy="-2011680"/>
          </a:xfrm>
          <a:prstGeom prst="line">
            <a:avLst/>
          </a:prstGeom>
          <a:noFill/>
          <a:ln w="31750">
            <a:solidFill>
              <a:srgbClr val="7570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83764" y="286156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6684" y="255422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9604" y="224688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92524" y="193954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9724" y="166014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3200400"/>
            <a:ext cx="32918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231136" y="3145536"/>
            <a:ext cx="109728" cy="109728"/>
          </a:xfrm>
          <a:prstGeom prst="ellipse">
            <a:avLst/>
          </a:prstGeom>
          <a:solidFill>
            <a:srgbClr val="7570B3"/>
          </a:solidFill>
          <a:ln w="12700">
            <a:solidFill>
              <a:srgbClr val="7570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2871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y-intercept = 2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indent="0" marL="0">
              <a:buNone/>
            </a:pPr>
            <a:r>
              <a:rPr lang="en-US" sz="12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08176" y="3648456"/>
            <a:ext cx="109728" cy="109728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947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x-intercept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0142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–2</a:t>
            </a:r>
            <a:pPr algn="ctr" indent="0" marL="0">
              <a:buNone/>
            </a:pPr>
            <a:r>
              <a:rPr lang="en-US" sz="1100" i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529840"/>
            <a:ext cx="8686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251960" y="2529840"/>
            <a:ext cx="0" cy="-5308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377440" y="1399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=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indent="0" marL="0">
              <a:buNone/>
            </a:pPr>
            <a:r>
              <a:rPr lang="en-US" sz="12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7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</a:t>
            </a:r>
            <a:pPr algn="ctr" indent="0" marL="0">
              <a:buNone/>
            </a:pPr>
            <a:r>
              <a:rPr lang="en-US" sz="17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7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17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( </a:t>
            </a:r>
            <a:pPr algn="ctr" indent="0" marL="0">
              <a:buNone/>
            </a:pPr>
            <a:r>
              <a:rPr lang="en-US" sz="17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+ 2</a:t>
            </a:r>
            <a:pPr algn="ctr" indent="0" marL="0">
              <a:buNone/>
            </a:pPr>
            <a:r>
              <a:rPr lang="en-US" sz="17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7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349240" y="1737360"/>
            <a:ext cx="160020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× </a:t>
            </a:r>
            <a:pPr algn="ctr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67728" y="181965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05472" y="1819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resistance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2240280"/>
            <a:ext cx="160020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÷ 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67728" y="232257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05472" y="23225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resistance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49240" y="2743200"/>
            <a:ext cx="160020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743200"/>
            <a:ext cx="1600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÷ 2·slope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28254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05472" y="28254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length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3246120"/>
            <a:ext cx="160020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246120"/>
            <a:ext cx="1600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</a:t>
            </a:r>
            <a:pPr algn="ctr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050" baseline="3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67728" y="33284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05472" y="33284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contact resistivity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38221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fit, four numbers — provided the line really is straight.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one point: a four-wire sweep on one contact pair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691640" y="3429000"/>
            <a:ext cx="6126480" cy="292608"/>
          </a:xfrm>
          <a:prstGeom prst="rect">
            <a:avLst/>
          </a:prstGeom>
          <a:solidFill>
            <a:srgbClr val="F0EDE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2697480"/>
            <a:ext cx="6126480" cy="73152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478024"/>
            <a:ext cx="1097280" cy="219456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2478024"/>
            <a:ext cx="1097280" cy="219456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822960"/>
            <a:ext cx="228600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822960"/>
            <a:ext cx="2286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source-measure unit
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sweeps V, records 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0" cy="41148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783080"/>
            <a:ext cx="160020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783080"/>
            <a:ext cx="0" cy="69494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371600"/>
            <a:ext cx="0" cy="41148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783080"/>
            <a:ext cx="196596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783080"/>
            <a:ext cx="0" cy="69494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5453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+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60920" y="15453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0520" y="1371600"/>
            <a:ext cx="0" cy="896112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71800" y="2267712"/>
            <a:ext cx="11887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971800" y="2267712"/>
            <a:ext cx="0" cy="210312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983480" y="1371600"/>
            <a:ext cx="0" cy="896112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983480" y="2267712"/>
            <a:ext cx="15544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537960" y="2267712"/>
            <a:ext cx="0" cy="210312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097280" y="2029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+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60920" y="2029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3730752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3730752"/>
            <a:ext cx="0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3813048"/>
            <a:ext cx="32004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154680" y="34838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3886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spacing 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279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Four-wire probing keeps the lead and probe resistance out of the measured </a:t>
            </a:r>
            <a:pPr algn="ctr"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otherwise it lands in the intercept and inflates ρ</a:t>
            </a:r>
            <a:pPr algn="ctr" indent="0" marL="0">
              <a:buNone/>
            </a:pPr>
            <a:r>
              <a:rPr lang="en-US" sz="110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over every spacing, then fit 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versus 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update these figures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406908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Edit, then export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any slide in this deck, then export every slide as JPEG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about 150 dpi  (File → Export → JPEG → All slides).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Simpler: run this in the TLM folder — it renders every slide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copies the JPEGs to both places for you: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249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./export_figures.sh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6908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Save each JPEG in BOTH folders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24358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file name in each. Miss the second one and the website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showing the old picture.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18888" y="1719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TLM/figures/&lt;name&gt;.jpg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8888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Jupyter notebook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18888" y="2194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docs/assets/&lt;name&gt;.jpg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18888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documentation website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→ file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32369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fig_tlm_resistance_chain.jpg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511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1640" y="3511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fig_tlm_structure.jpg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78561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85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37856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fig_tlm_crowding.jpg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4059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40599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fig_tlm_plot.jpg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33425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334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91640" y="43342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fig_tlm_measurement.jpg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46451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.pptx is deliberately not tracked by git — it is your local working copy. The exported .jpg files are what the repository and the website use, so those are the ones to commit.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2026-08-14T21:10:38Z</dcterms:created>
  <dcterms:modified xsi:type="dcterms:W3CDTF">2026-08-14T21:10:38Z</dcterms:modified>
</cp:coreProperties>
</file>