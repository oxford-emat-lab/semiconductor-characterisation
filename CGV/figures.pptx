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 capacitor: what is actually under the probes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417320" y="1051560"/>
            <a:ext cx="3794760" cy="384048"/>
          </a:xfrm>
          <a:prstGeom prst="rect">
            <a:avLst/>
          </a:prstGeom>
          <a:solidFill>
            <a:srgbClr val="8C8C8C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54480" y="105156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metal (or poly-Si)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417320" y="1435608"/>
            <a:ext cx="3794760" cy="274320"/>
          </a:xfrm>
          <a:prstGeom prst="rect">
            <a:avLst/>
          </a:prstGeom>
          <a:solidFill>
            <a:srgbClr val="F2C14E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21808" y="143560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oxide, t</a:t>
            </a:r>
            <a:pPr algn="l" indent="0" marL="0">
              <a:buNone/>
            </a:pPr>
            <a:r>
              <a:rPr lang="en-US" sz="1000" baseline="-4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417320" y="1709928"/>
            <a:ext cx="3794760" cy="1737360"/>
          </a:xfrm>
          <a:prstGeom prst="rect">
            <a:avLst/>
          </a:prstGeom>
          <a:solidFill>
            <a:srgbClr val="DCE9F7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17320" y="1709928"/>
            <a:ext cx="3794760" cy="685800"/>
          </a:xfrm>
          <a:prstGeom prst="rect">
            <a:avLst/>
          </a:prstGeom>
          <a:solidFill>
            <a:srgbClr val="BBD3EE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17373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depletion region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(fixed dopant charge)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80060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54480" y="28803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quasi-neutral bulk (N</a:t>
            </a:r>
            <a:pPr algn="l" indent="0" marL="0">
              <a:buNone/>
            </a:pPr>
            <a:r>
              <a:rPr lang="en-US" sz="950" baseline="-40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N</a:t>
            </a:r>
            <a:pPr algn="l" indent="0" marL="0">
              <a:buNone/>
            </a:pPr>
            <a:r>
              <a:rPr lang="en-US" sz="950" baseline="-40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417320" y="3447288"/>
            <a:ext cx="3794760" cy="310896"/>
          </a:xfrm>
          <a:prstGeom prst="rect">
            <a:avLst/>
          </a:prstGeom>
          <a:solidFill>
            <a:srgbClr val="8C8C8C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344728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ohmic contact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17320" y="1243584"/>
            <a:ext cx="-777240" cy="0"/>
          </a:xfrm>
          <a:prstGeom prst="line">
            <a:avLst/>
          </a:prstGeom>
          <a:noFill/>
          <a:ln w="17780">
            <a:solidFill>
              <a:srgbClr val="3A4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1243584"/>
            <a:ext cx="0" cy="996696"/>
          </a:xfrm>
          <a:prstGeom prst="line">
            <a:avLst/>
          </a:prstGeom>
          <a:noFill/>
          <a:ln w="17780">
            <a:solidFill>
              <a:srgbClr val="3A4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616" y="2240280"/>
            <a:ext cx="56692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" y="2240280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1200" b="1" i="1" baseline="-4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2642616"/>
            <a:ext cx="0" cy="960120"/>
          </a:xfrm>
          <a:prstGeom prst="line">
            <a:avLst/>
          </a:prstGeom>
          <a:noFill/>
          <a:ln w="17780">
            <a:solidFill>
              <a:srgbClr val="3A4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602736"/>
            <a:ext cx="777240" cy="0"/>
          </a:xfrm>
          <a:prstGeom prst="line">
            <a:avLst/>
          </a:prstGeom>
          <a:noFill/>
          <a:ln w="17780">
            <a:solidFill>
              <a:srgbClr val="3A4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06440" y="960120"/>
            <a:ext cx="28803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04241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 balance (Eq. 3, 7)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0" y="133502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charge Q</a:t>
            </a:r>
            <a:pPr algn="l" indent="0" marL="0">
              <a:buNone/>
            </a:pPr>
            <a:r>
              <a:rPr lang="en-US" sz="1050" baseline="-4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-Q</a:t>
            </a:r>
            <a:pPr algn="l" indent="0" marL="0">
              <a:buNone/>
            </a:pPr>
            <a:r>
              <a:rPr lang="en-US" sz="1050" baseline="-4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43600" y="1600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950" baseline="-40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</a:t>
            </a:r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space-charge density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semiconductor (Eq. 3)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943600" y="21031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p-type in depletion: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0" y="23317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1050" i="1" baseline="-4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</a:t>
            </a:r>
            <a:pPr algn="l" indent="0" marL="0">
              <a:buNone/>
            </a:pPr>
            <a:r>
              <a:rPr lang="en-US" sz="105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-q N</a:t>
            </a:r>
            <a:pPr algn="l" indent="0" marL="0">
              <a:buNone/>
            </a:pPr>
            <a:r>
              <a:rPr lang="en-US" sz="1050" i="1" baseline="-4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buNone/>
            </a:pPr>
            <a:r>
              <a:rPr lang="en-US" sz="105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  &lt;  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43600" y="2615184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gate carries positive charge,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by exposed negative acceptor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ions in the depletion region.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43600" y="334670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+ +  gate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43600" y="35661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 -  -  ionised acceptors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59028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terminals in, one number out per bias point: an LCR meter reads C</a:t>
            </a:r>
            <a:pPr algn="l" indent="0" marL="0">
              <a:buNone/>
            </a:pPr>
            <a:r>
              <a:rPr lang="en-US" sz="1100" i="1" baseline="-40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G</a:t>
            </a:r>
            <a:pPr algn="l" indent="0" marL="0">
              <a:buNone/>
            </a:pPr>
            <a:r>
              <a:rPr lang="en-US" sz="1100" i="1" baseline="-40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the gate, and everything in this notebook is inference from that single admittance.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meter reads vs. what you want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14630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320040" cy="0"/>
          </a:xfrm>
          <a:prstGeom prst="line">
            <a:avLst/>
          </a:prstGeom>
          <a:noFill/>
          <a:ln w="20320">
            <a:solidFill>
              <a:srgbClr val="3A4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8229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1051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ctr" indent="0" marL="0">
              <a:buNone/>
            </a:pPr>
            <a:r>
              <a:rPr lang="en-US" sz="1200" b="1" i="1" baseline="-4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45920" y="2011680"/>
            <a:ext cx="1097280" cy="0"/>
          </a:xfrm>
          <a:prstGeom prst="line">
            <a:avLst/>
          </a:prstGeom>
          <a:noFill/>
          <a:ln w="20320">
            <a:solidFill>
              <a:srgbClr val="3A4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1810512"/>
            <a:ext cx="822960" cy="402336"/>
          </a:xfrm>
          <a:prstGeom prst="rect">
            <a:avLst/>
          </a:prstGeom>
          <a:solidFill>
            <a:srgbClr val="F2C14E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81051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1200" b="1" i="1" baseline="-4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66160" y="2011680"/>
            <a:ext cx="1280160" cy="0"/>
          </a:xfrm>
          <a:prstGeom prst="line">
            <a:avLst/>
          </a:prstGeom>
          <a:noFill/>
          <a:ln w="20320">
            <a:solidFill>
              <a:srgbClr val="3A4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234440"/>
            <a:ext cx="13716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CD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280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semiconductor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983480" y="1755648"/>
            <a:ext cx="502920" cy="365760"/>
          </a:xfrm>
          <a:prstGeom prst="rect">
            <a:avLst/>
          </a:prstGeom>
          <a:solidFill>
            <a:srgbClr val="DCE9F7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7556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77840" y="1755648"/>
            <a:ext cx="502920" cy="365760"/>
          </a:xfrm>
          <a:prstGeom prst="rect">
            <a:avLst/>
          </a:prstGeom>
          <a:solidFill>
            <a:srgbClr val="FFF6E5"/>
          </a:solidFill>
          <a:ln w="12700">
            <a:solidFill>
              <a:srgbClr val="7A519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17556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7A5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7A5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68112" y="1755648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‖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2011680"/>
            <a:ext cx="731520" cy="0"/>
          </a:xfrm>
          <a:prstGeom prst="line">
            <a:avLst/>
          </a:prstGeom>
          <a:noFill/>
          <a:ln w="20320">
            <a:solidFill>
              <a:srgbClr val="3A4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9440" y="2011680"/>
            <a:ext cx="1188720" cy="0"/>
          </a:xfrm>
          <a:prstGeom prst="line">
            <a:avLst/>
          </a:prstGeom>
          <a:noFill/>
          <a:ln w="20320">
            <a:solidFill>
              <a:srgbClr val="3A4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2011680"/>
            <a:ext cx="0" cy="-1097280"/>
          </a:xfrm>
          <a:prstGeom prst="line">
            <a:avLst/>
          </a:prstGeom>
          <a:noFill/>
          <a:ln w="17780">
            <a:solidFill>
              <a:srgbClr val="3A4A5C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7863840" y="594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/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contact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" y="25146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5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measured: C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D95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pPr algn="l" indent="0" marL="0">
              <a:buNone/>
            </a:pPr>
            <a:r>
              <a:rPr lang="en-US" sz="1050" b="1" dirty="0">
                <a:solidFill>
                  <a:srgbClr val="D95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G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D95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pPr algn="l" indent="0" marL="0">
              <a:buNone/>
            </a:pPr>
            <a:r>
              <a:rPr lang="en-US" sz="1050" b="1" dirty="0">
                <a:solidFill>
                  <a:srgbClr val="D95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(Eq. 16)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0" y="25146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A5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wanted: G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7A5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pPr algn="l" indent="0" marL="0">
              <a:buNone/>
            </a:pPr>
            <a:r>
              <a:rPr lang="en-US" sz="1050" b="1" dirty="0">
                <a:solidFill>
                  <a:srgbClr val="7A5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/ω  →  D</a:t>
            </a:r>
            <a:pPr algn="l" indent="0" marL="0">
              <a:buNone/>
            </a:pPr>
            <a:r>
              <a:rPr lang="en-US" sz="1050" b="1" baseline="-40000" dirty="0">
                <a:solidFill>
                  <a:srgbClr val="7A5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pPr algn="l" indent="0" marL="0">
              <a:buNone/>
            </a:pPr>
            <a:r>
              <a:rPr lang="en-US" sz="1050" b="1" dirty="0">
                <a:solidFill>
                  <a:srgbClr val="7A5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(Eq. 17)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246120"/>
            <a:ext cx="8046720" cy="1051560"/>
          </a:xfrm>
          <a:prstGeom prst="rect">
            <a:avLst/>
          </a:prstGeom>
          <a:solidFill>
            <a:srgbClr val="F4F6F8"/>
          </a:solidFill>
          <a:ln w="12700">
            <a:solidFill>
              <a:srgbClr val="C7CD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337560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corrections stand between C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/G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physics: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35844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R</a:t>
            </a:r>
            <a:pPr algn="l" indent="0" marL="0">
              <a:buNone/>
            </a:pPr>
            <a:r>
              <a:rPr lang="en-US" sz="1000" baseline="-4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distorts C</a:t>
            </a:r>
            <a:pPr algn="l" indent="0" marL="0">
              <a:buNone/>
            </a:pPr>
            <a:r>
              <a:rPr lang="en-US" sz="1000" baseline="-4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G</a:t>
            </a:r>
            <a:pPr algn="l" indent="0" marL="0">
              <a:buNone/>
            </a:pPr>
            <a:r>
              <a:rPr lang="en-US" sz="1000" baseline="-4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even in accumulation - extract it from the accumulation plateau (Eq. 19) and undo it (Eq. 20).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38587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C</a:t>
            </a:r>
            <a:pPr algn="l" indent="0" marL="0">
              <a:buNone/>
            </a:pPr>
            <a:r>
              <a:rPr lang="en-US" sz="1000" baseline="-4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</a:t>
            </a:r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still sits in series with the semiconductor branch - the admittance transform (Eq. 16) removes it to leave the true G</a:t>
            </a:r>
            <a:pPr algn="l" indent="0" marL="0">
              <a:buNone/>
            </a:pPr>
            <a:r>
              <a:rPr lang="en-US" sz="1000" baseline="-4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/ω.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59028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either step, or use an inaccurate C</a:t>
            </a:r>
            <a:pPr algn="l" indent="0" marL="0">
              <a:buNone/>
            </a:pPr>
            <a:r>
              <a:rPr lang="en-US" sz="1100" i="1" baseline="-40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</a:t>
            </a:r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the error propagates straight into every D</a:t>
            </a:r>
            <a:pPr algn="l" indent="0" marL="0">
              <a:buNone/>
            </a:pPr>
            <a:r>
              <a:rPr lang="en-US" sz="1100" i="1" baseline="-40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extract.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HF, LF and deep-depletion C-V curves differ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914400" y="3977640"/>
            <a:ext cx="5760720" cy="0"/>
          </a:xfrm>
          <a:prstGeom prst="line">
            <a:avLst/>
          </a:prstGeom>
          <a:noFill/>
          <a:ln w="20320">
            <a:solidFill>
              <a:srgbClr val="3A4A5C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914400" y="3977640"/>
            <a:ext cx="0" cy="-2788920"/>
          </a:xfrm>
          <a:prstGeom prst="line">
            <a:avLst/>
          </a:prstGeom>
          <a:noFill/>
          <a:ln w="20320">
            <a:solidFill>
              <a:srgbClr val="3A4A5C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6537960" y="40507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050" i="1" baseline="-40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91440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1417320"/>
            <a:ext cx="5760720" cy="0"/>
          </a:xfrm>
          <a:prstGeom prst="line">
            <a:avLst/>
          </a:prstGeom>
          <a:noFill/>
          <a:ln w="12700">
            <a:solidFill>
              <a:srgbClr val="C7CDD4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11480" y="13075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r" indent="0" marL="0">
              <a:buNone/>
            </a:pPr>
            <a:r>
              <a:rPr lang="en-US" sz="950" baseline="-40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234440" y="1417320"/>
            <a:ext cx="1234440" cy="0"/>
          </a:xfrm>
          <a:prstGeom prst="line">
            <a:avLst/>
          </a:prstGeom>
          <a:noFill/>
          <a:ln w="30480">
            <a:solidFill>
              <a:srgbClr val="1F6F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417320"/>
            <a:ext cx="1280160" cy="1645920"/>
          </a:xfrm>
          <a:prstGeom prst="line">
            <a:avLst/>
          </a:prstGeom>
          <a:noFill/>
          <a:ln w="30480">
            <a:solidFill>
              <a:srgbClr val="1F6F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0" y="3063240"/>
            <a:ext cx="1463040" cy="-457200"/>
          </a:xfrm>
          <a:prstGeom prst="line">
            <a:avLst/>
          </a:prstGeom>
          <a:noFill/>
          <a:ln w="30480">
            <a:solidFill>
              <a:srgbClr val="1F6F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2606040"/>
            <a:ext cx="1234440" cy="0"/>
          </a:xfrm>
          <a:prstGeom prst="line">
            <a:avLst/>
          </a:prstGeom>
          <a:noFill/>
          <a:ln w="30480">
            <a:solidFill>
              <a:srgbClr val="1F6F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83480" y="2715768"/>
            <a:ext cx="457200" cy="-429768"/>
          </a:xfrm>
          <a:prstGeom prst="line">
            <a:avLst/>
          </a:prstGeom>
          <a:noFill/>
          <a:ln w="30480">
            <a:solidFill>
              <a:srgbClr val="0F51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40680" y="2286000"/>
            <a:ext cx="1005840" cy="-822960"/>
          </a:xfrm>
          <a:prstGeom prst="line">
            <a:avLst/>
          </a:prstGeom>
          <a:noFill/>
          <a:ln w="30480">
            <a:solidFill>
              <a:srgbClr val="0F51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83480" y="2715768"/>
            <a:ext cx="1463040" cy="621792"/>
          </a:xfrm>
          <a:prstGeom prst="line">
            <a:avLst/>
          </a:prstGeom>
          <a:noFill/>
          <a:ln w="27940">
            <a:solidFill>
              <a:srgbClr val="C0392B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2468880" y="3977640"/>
            <a:ext cx="0" cy="-278892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2194560" y="40690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1000" i="1" baseline="-40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FB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12080" y="3977640"/>
            <a:ext cx="0" cy="-278892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937760" y="40690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1000" i="1" baseline="-40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34440" y="15087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97480" y="21031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depletion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49240" y="1508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95160" y="1188720"/>
            <a:ext cx="320040" cy="0"/>
          </a:xfrm>
          <a:prstGeom prst="line">
            <a:avLst/>
          </a:prstGeom>
          <a:noFill/>
          <a:ln w="30480">
            <a:solidFill>
              <a:srgbClr val="0F51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0" y="10241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LF (equilibrium)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995160" y="1755648"/>
            <a:ext cx="320040" cy="0"/>
          </a:xfrm>
          <a:prstGeom prst="line">
            <a:avLst/>
          </a:prstGeom>
          <a:noFill/>
          <a:ln w="30480">
            <a:solidFill>
              <a:srgbClr val="1F6F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0" y="159105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HF (1 MHz)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995160" y="2322576"/>
            <a:ext cx="320040" cy="0"/>
          </a:xfrm>
          <a:prstGeom prst="line">
            <a:avLst/>
          </a:prstGeom>
          <a:noFill/>
          <a:ln w="30480">
            <a:solidFill>
              <a:srgbClr val="C0392B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7406640" y="215798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depletion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(swept too fast)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59028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agree in accumulation and through depletion; they split only where minority carriers matter - whether they can be supplied fast enough sets which curve you get (Sec. 6).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C-V curve's slope is a doping profile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3657600" cy="320040"/>
          </a:xfrm>
          <a:prstGeom prst="rect">
            <a:avLst/>
          </a:prstGeom>
          <a:solidFill>
            <a:srgbClr val="8C8C8C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71600"/>
            <a:ext cx="3657600" cy="164592"/>
          </a:xfrm>
          <a:prstGeom prst="rect">
            <a:avLst/>
          </a:prstGeom>
          <a:solidFill>
            <a:srgbClr val="F2C14E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36192"/>
            <a:ext cx="3657600" cy="1600200"/>
          </a:xfrm>
          <a:prstGeom prst="rect">
            <a:avLst/>
          </a:prstGeom>
          <a:solidFill>
            <a:srgbClr val="DCE9F7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36192"/>
            <a:ext cx="3657600" cy="411480"/>
          </a:xfrm>
          <a:prstGeom prst="rect">
            <a:avLst/>
          </a:prstGeom>
          <a:solidFill>
            <a:srgbClr val="BBD3EE"/>
          </a:solidFill>
          <a:ln w="12700">
            <a:solidFill>
              <a:srgbClr val="9FB4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536192"/>
            <a:ext cx="3657600" cy="868680"/>
          </a:xfrm>
          <a:prstGeom prst="rect">
            <a:avLst/>
          </a:prstGeom>
          <a:solidFill>
            <a:srgbClr val="BBD3EE"/>
          </a:solidFill>
          <a:ln w="12700">
            <a:solidFill>
              <a:srgbClr val="9FB4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536192"/>
            <a:ext cx="3657600" cy="1417320"/>
          </a:xfrm>
          <a:prstGeom prst="rect">
            <a:avLst/>
          </a:prstGeom>
          <a:solidFill>
            <a:srgbClr val="BBD3EE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184708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W(V</a:t>
            </a:r>
            <a:pPr algn="l" indent="0" marL="0">
              <a:buNone/>
            </a:pPr>
            <a:r>
              <a:rPr lang="en-US" sz="900" baseline="-40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43400" y="230428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W(V</a:t>
            </a:r>
            <a:pPr algn="l" indent="0" marL="0">
              <a:buNone/>
            </a:pPr>
            <a:r>
              <a:rPr lang="en-US" sz="900" baseline="-40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43400" y="28529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W(V</a:t>
            </a:r>
            <a:pPr algn="l" indent="0" marL="0">
              <a:buNone/>
            </a:pPr>
            <a:r>
              <a:rPr lang="en-US" sz="900" b="1" baseline="-40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0640" y="3977640"/>
            <a:ext cx="3291840" cy="0"/>
          </a:xfrm>
          <a:prstGeom prst="line">
            <a:avLst/>
          </a:prstGeom>
          <a:noFill/>
          <a:ln w="20320">
            <a:solidFill>
              <a:srgbClr val="3A4A5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20640" y="3977640"/>
            <a:ext cx="0" cy="-2743200"/>
          </a:xfrm>
          <a:prstGeom prst="line">
            <a:avLst/>
          </a:prstGeom>
          <a:noFill/>
          <a:ln w="20320">
            <a:solidFill>
              <a:srgbClr val="3A4A5C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229600" y="40507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63440" y="11887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1/C²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94960" y="3703320"/>
            <a:ext cx="2743200" cy="-2194560"/>
          </a:xfrm>
          <a:prstGeom prst="line">
            <a:avLst/>
          </a:prstGeom>
          <a:noFill/>
          <a:ln w="30480">
            <a:solidFill>
              <a:srgbClr val="D95F0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423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steeper slope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lower 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0" y="42976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N(W) = 2 / [qε</a:t>
            </a:r>
            <a:pPr algn="l" indent="0" marL="0">
              <a:buNone/>
            </a:pPr>
            <a:r>
              <a:rPr lang="en-US" sz="950" i="1" baseline="-4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pPr algn="l" indent="0" marL="0">
              <a:buNone/>
            </a:pPr>
            <a:r>
              <a:rPr lang="en-US" sz="95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A² |d(1/C²)/dV|]  (Eq. 12/13)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3977640" cy="1170432"/>
          </a:xfrm>
          <a:prstGeom prst="rect">
            <a:avLst/>
          </a:prstGeom>
          <a:solidFill>
            <a:srgbClr val="F4F6F8"/>
          </a:solidFill>
          <a:ln w="12700">
            <a:solidFill>
              <a:srgbClr val="C7CD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35584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|·|, not the bare derivative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3575304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edge of the depletion region is where N(W) is sampled (Eq. 12/13). The textbook sign assumes V rising means more reverse bias; this notebook's V</a:t>
            </a:r>
            <a:pPr algn="l" indent="0" marL="0">
              <a:buNone/>
            </a:pPr>
            <a:r>
              <a:rPr lang="en-US" sz="910" baseline="-40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pPr algn="l" indent="0" marL="0">
              <a:buNone/>
            </a:pPr>
            <a:r>
              <a:rPr lang="en-US" sz="91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deepens depletion directly, the opposite sense - N(W) can never be negative, so take the absolute value (Sec. 9).</a:t>
            </a:r>
            <a:endParaRPr lang="en-US" sz="910" dirty="0"/>
          </a:p>
        </p:txBody>
      </p:sp>
      <p:sp>
        <p:nvSpPr>
          <p:cNvPr id="22" name="Text 20"/>
          <p:cNvSpPr/>
          <p:nvPr/>
        </p:nvSpPr>
        <p:spPr>
          <a:xfrm>
            <a:off x="365760" y="459028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V, extract W(V) from C, then N(W) from the local slope of 1/C² - a depth profile built one derivative at a time, well-resolved only where the slope is well-resolved.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conductance peak: how a trap dissipates energy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291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1463040"/>
            <a:ext cx="256032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5331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l" indent="0" marL="0">
              <a:buNone/>
            </a:pPr>
            <a:r>
              <a:rPr lang="en-US" sz="1000" i="1" baseline="-4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05840" y="3017520"/>
            <a:ext cx="256032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9077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l" indent="0" marL="0">
              <a:buNone/>
            </a:pPr>
            <a:r>
              <a:rPr lang="en-US" sz="1000" i="1" baseline="-4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05840" y="2286000"/>
            <a:ext cx="256032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85800" y="21762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l" indent="0" marL="0">
              <a:buNone/>
            </a:pPr>
            <a:r>
              <a:rPr lang="en-US" sz="1000" i="1" baseline="-40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12848" y="1783080"/>
            <a:ext cx="146304" cy="146304"/>
          </a:xfrm>
          <a:prstGeom prst="rect">
            <a:avLst/>
          </a:prstGeom>
          <a:solidFill>
            <a:srgbClr val="7A5195"/>
          </a:solidFill>
          <a:ln w="12700">
            <a:solidFill>
              <a:srgbClr val="3A4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7190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5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l" indent="0" marL="0">
              <a:buNone/>
            </a:pPr>
            <a:r>
              <a:rPr lang="en-US" sz="950" baseline="-40000" dirty="0">
                <a:solidFill>
                  <a:srgbClr val="7A5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pPr algn="l" indent="0" marL="0">
              <a:buNone/>
            </a:pPr>
            <a:r>
              <a:rPr lang="en-US" sz="950" dirty="0">
                <a:solidFill>
                  <a:srgbClr val="7A5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trap level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7A5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interface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0" y="3017520"/>
            <a:ext cx="0" cy="45720"/>
          </a:xfrm>
          <a:prstGeom prst="line">
            <a:avLst/>
          </a:prstGeom>
          <a:noFill/>
          <a:ln w="15240">
            <a:solidFill>
              <a:srgbClr val="7A5195"/>
            </a:solidFill>
            <a:prstDash val="dash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14400" y="2651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/ emission,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set by τ</a:t>
            </a:r>
            <a:pPr algn="ctr" indent="0" marL="0">
              <a:buNone/>
            </a:pPr>
            <a:r>
              <a:rPr lang="en-US" sz="900" baseline="-40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(Eq. 18)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3977640"/>
            <a:ext cx="3749040" cy="0"/>
          </a:xfrm>
          <a:prstGeom prst="line">
            <a:avLst/>
          </a:prstGeom>
          <a:noFill/>
          <a:ln w="20320">
            <a:solidFill>
              <a:srgbClr val="3A4A5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663440" y="3977640"/>
            <a:ext cx="0" cy="-2834640"/>
          </a:xfrm>
          <a:prstGeom prst="line">
            <a:avLst/>
          </a:prstGeom>
          <a:noFill/>
          <a:ln w="20320">
            <a:solidFill>
              <a:srgbClr val="3A4A5C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955280" y="40507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60520" y="10972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pPr algn="l" indent="0" marL="0">
              <a:buNone/>
            </a:pPr>
            <a:r>
              <a:rPr lang="en-US" sz="1000" i="1" baseline="-40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pPr algn="l"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3840480"/>
            <a:ext cx="751637" cy="-854964"/>
          </a:xfrm>
          <a:prstGeom prst="line">
            <a:avLst/>
          </a:prstGeom>
          <a:noFill/>
          <a:ln w="27940">
            <a:solidFill>
              <a:srgbClr val="1F6FB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597957" y="2985516"/>
            <a:ext cx="640080" cy="-1417320"/>
          </a:xfrm>
          <a:prstGeom prst="line">
            <a:avLst/>
          </a:prstGeom>
          <a:noFill/>
          <a:ln w="27940">
            <a:solidFill>
              <a:srgbClr val="1F6FB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238037" y="1568196"/>
            <a:ext cx="640080" cy="1417320"/>
          </a:xfrm>
          <a:prstGeom prst="line">
            <a:avLst/>
          </a:prstGeom>
          <a:noFill/>
          <a:ln w="27940">
            <a:solidFill>
              <a:srgbClr val="1F6FB2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878117" y="2985516"/>
            <a:ext cx="1260043" cy="854964"/>
          </a:xfrm>
          <a:prstGeom prst="line">
            <a:avLst/>
          </a:prstGeom>
          <a:noFill/>
          <a:ln w="27940">
            <a:solidFill>
              <a:srgbClr val="1F6FB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846320" y="3886200"/>
            <a:ext cx="202997" cy="-702259"/>
          </a:xfrm>
          <a:prstGeom prst="line">
            <a:avLst/>
          </a:prstGeom>
          <a:noFill/>
          <a:ln w="30480">
            <a:solidFill>
              <a:srgbClr val="7A519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49317" y="3183941"/>
            <a:ext cx="1188720" cy="-680314"/>
          </a:xfrm>
          <a:prstGeom prst="line">
            <a:avLst/>
          </a:prstGeom>
          <a:noFill/>
          <a:ln w="30480">
            <a:solidFill>
              <a:srgbClr val="7A519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38037" y="2503627"/>
            <a:ext cx="1188720" cy="680314"/>
          </a:xfrm>
          <a:prstGeom prst="line">
            <a:avLst/>
          </a:prstGeom>
          <a:noFill/>
          <a:ln w="30480">
            <a:solidFill>
              <a:srgbClr val="7A519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26757" y="3183941"/>
            <a:ext cx="711403" cy="702259"/>
          </a:xfrm>
          <a:prstGeom prst="line">
            <a:avLst/>
          </a:prstGeom>
          <a:noFill/>
          <a:ln w="30480">
            <a:solidFill>
              <a:srgbClr val="7A519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38037" y="3977640"/>
            <a:ext cx="0" cy="-274320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5780837" y="40690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ωτ</a:t>
            </a:r>
            <a:pPr algn="ctr" indent="0" marL="0">
              <a:buNone/>
            </a:pPr>
            <a:r>
              <a:rPr lang="en-US" sz="950" baseline="-40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1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937760" y="4361688"/>
            <a:ext cx="320040" cy="0"/>
          </a:xfrm>
          <a:prstGeom prst="line">
            <a:avLst/>
          </a:prstGeom>
          <a:noFill/>
          <a:ln w="27940">
            <a:solidFill>
              <a:srgbClr val="1F6FB2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5349240" y="42702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level (Eq. 17)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858000" y="4361688"/>
            <a:ext cx="320040" cy="0"/>
          </a:xfrm>
          <a:prstGeom prst="line">
            <a:avLst/>
          </a:prstGeom>
          <a:noFill/>
          <a:ln w="30480">
            <a:solidFill>
              <a:srgbClr val="7A519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69480" y="42702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A51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(broadened)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5760" y="459028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trap only shows up in G</a:t>
            </a:r>
            <a:pPr algn="l" indent="0" marL="0">
              <a:buNone/>
            </a:pPr>
            <a:r>
              <a:rPr lang="en-US" sz="1100" i="1" baseline="-40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while it is actively exchanging charge with a band - too slow or too fast relative to ω and it looks capacitive instead, which is why the peak sits at ωτ</a:t>
            </a:r>
            <a:pPr algn="l" indent="0" marL="0">
              <a:buNone/>
            </a:pPr>
            <a:r>
              <a:rPr lang="en-US" sz="1100" i="1" baseline="-40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</a:t>
            </a:r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1 and not at higher or lower frequency.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this deck works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868680"/>
            <a:ext cx="4069080" cy="1874520"/>
          </a:xfrm>
          <a:prstGeom prst="rect">
            <a:avLst/>
          </a:prstGeom>
          <a:solidFill>
            <a:srgbClr val="F4F6F8"/>
          </a:solidFill>
          <a:ln w="12700">
            <a:solidFill>
              <a:srgbClr val="C7C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9692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·  Edit, then export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225296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any slide in this deck, then export every slide as JPEG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about 150 dpi  (File → Export → JPEG → All slides).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1792224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Simpler: run this in the CGV folder - it renders every slide</a:t>
            </a:r>
            <a:endParaRPr lang="en-US" sz="10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copies the JPEGs to both places for you: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24942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51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./export_figures.sh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069080" cy="1874520"/>
          </a:xfrm>
          <a:prstGeom prst="rect">
            <a:avLst/>
          </a:prstGeom>
          <a:solidFill>
            <a:srgbClr val="F4F6F8"/>
          </a:solidFill>
          <a:ln w="12700">
            <a:solidFill>
              <a:srgbClr val="C7CD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18888" y="9692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·  Save each JPEG in BOTH folders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18888" y="1225296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file name in each. Miss the second one and the website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showing the old picture.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18888" y="17190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CGV/figures/&lt;name&gt;.jpg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18888" y="193852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by the Jupyter notebook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18888" y="21945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docs/assets/&lt;name&gt;.jpg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18888" y="239572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by the documentation website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2926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→ file name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236976"/>
            <a:ext cx="8321040" cy="2743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2369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691640" y="32644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fig_cgv_mos_structure.jpg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6928" y="35112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691640" y="353872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fig_cgv_equivalent_circuit.jpg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3785616"/>
            <a:ext cx="8321040" cy="2743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7856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691640" y="38130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fig_cgv_curve_shapes.jpg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" y="40599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691640" y="408736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fig_cgv_doping_profile.jpg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1480" y="4334256"/>
            <a:ext cx="8321040" cy="2743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3342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691640" y="436168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fig_cgv_conductance_method.jpg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11480" y="464515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.pptx is deliberately not tracked by git - it is your local working copy. The exported .jpg files are what the repository and the website use, so those are the ones to commit.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2026-08-20T07:50:19Z</dcterms:created>
  <dcterms:modified xsi:type="dcterms:W3CDTF">2026-08-20T07:50:19Z</dcterms:modified>
</cp:coreProperties>
</file>